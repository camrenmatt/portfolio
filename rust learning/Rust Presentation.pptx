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4" r:id="rId4"/>
    <p:sldMasterId id="214748374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Sora"/>
      <p:regular r:id="rId26"/>
      <p:bold r:id="rId27"/>
    </p:embeddedFont>
    <p:embeddedFont>
      <p:font typeface="Forum"/>
      <p:regular r:id="rId28"/>
    </p:embeddedFont>
    <p:embeddedFont>
      <p:font typeface="IBM Plex Sans"/>
      <p:regular r:id="rId29"/>
      <p:bold r:id="rId30"/>
      <p:italic r:id="rId31"/>
      <p:boldItalic r:id="rId32"/>
    </p:embeddedFont>
    <p:embeddedFont>
      <p:font typeface="Sora SemiBold"/>
      <p:regular r:id="rId33"/>
      <p:bold r:id="rId34"/>
    </p:embeddedFont>
    <p:embeddedFont>
      <p:font typeface="DM Sans Medium"/>
      <p:regular r:id="rId35"/>
      <p:bold r:id="rId36"/>
      <p:italic r:id="rId37"/>
      <p:boldItalic r:id="rId38"/>
    </p:embeddedFont>
    <p:embeddedFont>
      <p:font typeface="IBM Plex Sans Medium"/>
      <p:regular r:id="rId39"/>
      <p:bold r:id="rId40"/>
      <p:italic r:id="rId41"/>
      <p:boldItalic r:id="rId42"/>
    </p:embeddedFont>
    <p:embeddedFont>
      <p:font typeface="Sora Light"/>
      <p:regular r:id="rId43"/>
      <p:bold r:id="rId44"/>
    </p:embeddedFont>
    <p:embeddedFont>
      <p:font typeface="DM Sans Light"/>
      <p:regular r:id="rId45"/>
      <p:bold r:id="rId46"/>
      <p:italic r:id="rId47"/>
      <p:boldItalic r:id="rId48"/>
    </p:embeddedFont>
    <p:embeddedFont>
      <p:font typeface="Sora ExtraLight"/>
      <p:regular r:id="rId49"/>
      <p:bold r:id="rId50"/>
    </p:embeddedFont>
    <p:embeddedFont>
      <p:font typeface="DM Sans"/>
      <p:regular r:id="rId51"/>
      <p:bold r:id="rId52"/>
      <p:italic r:id="rId53"/>
      <p:boldItalic r:id="rId54"/>
    </p:embeddedFont>
    <p:embeddedFont>
      <p:font typeface="Sora Medium"/>
      <p:regular r:id="rId55"/>
      <p:bold r:id="rId56"/>
    </p:embeddedFont>
    <p:embeddedFont>
      <p:font typeface="IBM Plex Sans SemiBold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Medium-bold.fntdata"/><Relationship Id="rId42" Type="http://schemas.openxmlformats.org/officeDocument/2006/relationships/font" Target="fonts/IBMPlexSansMedium-boldItalic.fntdata"/><Relationship Id="rId41" Type="http://schemas.openxmlformats.org/officeDocument/2006/relationships/font" Target="fonts/IBMPlexSansMedium-italic.fntdata"/><Relationship Id="rId44" Type="http://schemas.openxmlformats.org/officeDocument/2006/relationships/font" Target="fonts/SoraLight-bold.fntdata"/><Relationship Id="rId43" Type="http://schemas.openxmlformats.org/officeDocument/2006/relationships/font" Target="fonts/SoraLight-regular.fntdata"/><Relationship Id="rId46" Type="http://schemas.openxmlformats.org/officeDocument/2006/relationships/font" Target="fonts/DMSansLight-bold.fntdata"/><Relationship Id="rId45" Type="http://schemas.openxmlformats.org/officeDocument/2006/relationships/font" Target="fonts/DMSa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Light-boldItalic.fntdata"/><Relationship Id="rId47" Type="http://schemas.openxmlformats.org/officeDocument/2006/relationships/font" Target="fonts/DMSansLight-italic.fntdata"/><Relationship Id="rId49" Type="http://schemas.openxmlformats.org/officeDocument/2006/relationships/font" Target="fonts/SoraExtra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-italic.fntdata"/><Relationship Id="rId30" Type="http://schemas.openxmlformats.org/officeDocument/2006/relationships/font" Target="fonts/IBMPlexSans-bold.fntdata"/><Relationship Id="rId33" Type="http://schemas.openxmlformats.org/officeDocument/2006/relationships/font" Target="fonts/SoraSemiBold-regular.fntdata"/><Relationship Id="rId32" Type="http://schemas.openxmlformats.org/officeDocument/2006/relationships/font" Target="fonts/IBMPlexSans-boldItalic.fntdata"/><Relationship Id="rId35" Type="http://schemas.openxmlformats.org/officeDocument/2006/relationships/font" Target="fonts/DMSansMedium-regular.fntdata"/><Relationship Id="rId34" Type="http://schemas.openxmlformats.org/officeDocument/2006/relationships/font" Target="fonts/SoraSemiBold-bold.fntdata"/><Relationship Id="rId37" Type="http://schemas.openxmlformats.org/officeDocument/2006/relationships/font" Target="fonts/DMSansMedium-italic.fntdata"/><Relationship Id="rId36" Type="http://schemas.openxmlformats.org/officeDocument/2006/relationships/font" Target="fonts/DMSansMedium-bold.fntdata"/><Relationship Id="rId39" Type="http://schemas.openxmlformats.org/officeDocument/2006/relationships/font" Target="fonts/IBMPlexSansMedium-regular.fntdata"/><Relationship Id="rId38" Type="http://schemas.openxmlformats.org/officeDocument/2006/relationships/font" Target="fonts/DMSans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BMPlexSansSemiBold-boldItalic.fntdata"/><Relationship Id="rId26" Type="http://schemas.openxmlformats.org/officeDocument/2006/relationships/font" Target="fonts/Sora-regular.fntdata"/><Relationship Id="rId25" Type="http://schemas.openxmlformats.org/officeDocument/2006/relationships/slide" Target="slides/slide19.xml"/><Relationship Id="rId28" Type="http://schemas.openxmlformats.org/officeDocument/2006/relationships/font" Target="fonts/Forum-regular.fntdata"/><Relationship Id="rId27" Type="http://schemas.openxmlformats.org/officeDocument/2006/relationships/font" Target="fonts/Sora-bold.fntdata"/><Relationship Id="rId29" Type="http://schemas.openxmlformats.org/officeDocument/2006/relationships/font" Target="fonts/IBMPlexSans-regular.fntdata"/><Relationship Id="rId51" Type="http://schemas.openxmlformats.org/officeDocument/2006/relationships/font" Target="fonts/DMSans-regular.fntdata"/><Relationship Id="rId50" Type="http://schemas.openxmlformats.org/officeDocument/2006/relationships/font" Target="fonts/SoraExtraLight-bold.fntdata"/><Relationship Id="rId53" Type="http://schemas.openxmlformats.org/officeDocument/2006/relationships/font" Target="fonts/DMSans-italic.fntdata"/><Relationship Id="rId52" Type="http://schemas.openxmlformats.org/officeDocument/2006/relationships/font" Target="fonts/DMSans-bold.fntdata"/><Relationship Id="rId11" Type="http://schemas.openxmlformats.org/officeDocument/2006/relationships/slide" Target="slides/slide5.xml"/><Relationship Id="rId55" Type="http://schemas.openxmlformats.org/officeDocument/2006/relationships/font" Target="fonts/SoraMedium-regular.fntdata"/><Relationship Id="rId10" Type="http://schemas.openxmlformats.org/officeDocument/2006/relationships/slide" Target="slides/slide4.xml"/><Relationship Id="rId54" Type="http://schemas.openxmlformats.org/officeDocument/2006/relationships/font" Target="fonts/DMSans-boldItalic.fntdata"/><Relationship Id="rId13" Type="http://schemas.openxmlformats.org/officeDocument/2006/relationships/slide" Target="slides/slide7.xml"/><Relationship Id="rId57" Type="http://schemas.openxmlformats.org/officeDocument/2006/relationships/font" Target="fonts/IBMPlexSansSemiBold-regular.fntdata"/><Relationship Id="rId12" Type="http://schemas.openxmlformats.org/officeDocument/2006/relationships/slide" Target="slides/slide6.xml"/><Relationship Id="rId56" Type="http://schemas.openxmlformats.org/officeDocument/2006/relationships/font" Target="fonts/SoraMedium-bold.fntdata"/><Relationship Id="rId15" Type="http://schemas.openxmlformats.org/officeDocument/2006/relationships/slide" Target="slides/slide9.xml"/><Relationship Id="rId59" Type="http://schemas.openxmlformats.org/officeDocument/2006/relationships/font" Target="fonts/IBMPlexSansSemiBold-italic.fntdata"/><Relationship Id="rId14" Type="http://schemas.openxmlformats.org/officeDocument/2006/relationships/slide" Target="slides/slide8.xml"/><Relationship Id="rId58" Type="http://schemas.openxmlformats.org/officeDocument/2006/relationships/font" Target="fonts/IBMPlexSa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870b5a9f01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3870b5a9f01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870b5a9f01_0_3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3870b5a9f01_0_3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870b5a9f01_0_3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870b5a9f01_0_3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870b5a9f01_0_3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3870b5a9f01_0_3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870b5a9f01_0_3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3870b5a9f01_0_3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870b5a9f01_0_4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3870b5a9f01_0_4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870b5a9f01_0_4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870b5a9f01_0_4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870b5a9f01_0_4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870b5a9f01_0_4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870b5a9f01_0_4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870b5a9f01_0_4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870b5a9f01_0_4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3870b5a9f01_0_4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3870b5a9f01_0_4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3870b5a9f01_0_4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d51998619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d51998619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d51998619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d51998619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3d51998619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3d51998619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d525b250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3d525b25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3d51998619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3d51998619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d525b250a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d525b250a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d525b250a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3d525b250a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3870b5a9f01_0_4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3870b5a9f01_0_4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890" name="Google Shape;890;p5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1" name="Google Shape;891;p5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92" name="Google Shape;892;p5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93" name="Google Shape;893;p5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894" name="Google Shape;894;p5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895" name="Google Shape;895;p5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96" name="Google Shape;896;p5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97" name="Google Shape;897;p5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898" name="Google Shape;898;p5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899" name="Google Shape;899;p5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02" name="Google Shape;902;p5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3" name="Google Shape;903;p5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4" name="Google Shape;904;p5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05" name="Google Shape;905;p5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06" name="Google Shape;906;p5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07" name="Google Shape;907;p5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08" name="Google Shape;908;p5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9" name="Google Shape;909;p5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12" name="Google Shape;912;p5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3" name="Google Shape;913;p5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16" name="Google Shape;916;p5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17" name="Google Shape;917;p5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8" name="Google Shape;918;p5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1" name="Google Shape;921;p5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2" name="Google Shape;922;p5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5" name="Google Shape;925;p5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6" name="Google Shape;926;p5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7" name="Google Shape;927;p5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8" name="Google Shape;928;p5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9" name="Google Shape;929;p5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30" name="Google Shape;930;p5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31" name="Google Shape;931;p5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2" name="Google Shape;932;p5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3" name="Google Shape;933;p5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4" name="Google Shape;934;p5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5" name="Google Shape;935;p5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6" name="Google Shape;936;p5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7" name="Google Shape;937;p5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38" name="Google Shape;938;p5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39" name="Google Shape;939;p5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40" name="Google Shape;940;p5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41" name="Google Shape;941;p5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42" name="Google Shape;942;p5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43" name="Google Shape;943;p5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4" name="Google Shape;944;p5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7" name="Google Shape;947;p5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48" name="Google Shape;948;p5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9" name="Google Shape;949;p5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50" name="Google Shape;950;p5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51" name="Google Shape;951;p5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2" name="Google Shape;952;p5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53" name="Google Shape;953;p5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54" name="Google Shape;954;p5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5" name="Google Shape;955;p5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56" name="Google Shape;956;p5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57" name="Google Shape;957;p5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58" name="Google Shape;958;p5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59" name="Google Shape;959;p5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0" name="Google Shape;960;p5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61" name="Google Shape;961;p5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2" name="Google Shape;962;p5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3" name="Google Shape;963;p5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4" name="Google Shape;964;p5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5" name="Google Shape;965;p5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6" name="Google Shape;966;p5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9" name="Google Shape;969;p5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0" name="Google Shape;970;p5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71" name="Google Shape;971;p5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2" name="Google Shape;972;p5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73" name="Google Shape;973;p5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74" name="Google Shape;974;p5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75" name="Google Shape;975;p5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6" name="Google Shape;976;p5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77" name="Google Shape;977;p5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78" name="Google Shape;978;p5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79" name="Google Shape;979;p5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80" name="Google Shape;980;p5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1" name="Google Shape;981;p5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82" name="Google Shape;982;p5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83" name="Google Shape;983;p5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84" name="Google Shape;984;p5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5" name="Google Shape;985;p5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86" name="Google Shape;986;p5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9" name="Google Shape;989;p6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0" name="Google Shape;990;p6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1" name="Google Shape;991;p6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2" name="Google Shape;992;p6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3" name="Google Shape;993;p6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4" name="Google Shape;994;p6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5" name="Google Shape;995;p6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6" name="Google Shape;996;p6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97" name="Google Shape;997;p6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8" name="Google Shape;998;p6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99" name="Google Shape;999;p6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0" name="Google Shape;1000;p6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1" name="Google Shape;1001;p6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2" name="Google Shape;1002;p6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3" name="Google Shape;1003;p6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4" name="Google Shape;1004;p6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5" name="Google Shape;1005;p6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6" name="Google Shape;1006;p6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7" name="Google Shape;1007;p6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8" name="Google Shape;1008;p6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9" name="Google Shape;1009;p6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10" name="Google Shape;1010;p6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1" name="Google Shape;1011;p6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2" name="Google Shape;1012;p6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3" name="Google Shape;1013;p6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4" name="Google Shape;1014;p6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5" name="Google Shape;1015;p6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18" name="Google Shape;1018;p6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19" name="Google Shape;1019;p6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20" name="Google Shape;1020;p6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21" name="Google Shape;1021;p6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22" name="Google Shape;1022;p6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3" name="Google Shape;1023;p6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4" name="Google Shape;1024;p6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25" name="Google Shape;1025;p6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26" name="Google Shape;1026;p6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7" name="Google Shape;1027;p6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8" name="Google Shape;1028;p6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9" name="Google Shape;1029;p6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0" name="Google Shape;1030;p6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1" name="Google Shape;1031;p6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2" name="Google Shape;1032;p6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3" name="Google Shape;1033;p6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34" name="Google Shape;1034;p6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35" name="Google Shape;1035;p6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36" name="Google Shape;1036;p6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7" name="Google Shape;1037;p6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8" name="Google Shape;1038;p6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9" name="Google Shape;1039;p6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0" name="Google Shape;1040;p6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1" name="Google Shape;1041;p6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2" name="Google Shape;1042;p6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3" name="Google Shape;1043;p6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4" name="Google Shape;1044;p6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5" name="Google Shape;1045;p6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48" name="Google Shape;1048;p6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9" name="Google Shape;1049;p6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52" name="Google Shape;1052;p6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53" name="Google Shape;1053;p6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54" name="Google Shape;1054;p6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55" name="Google Shape;1055;p6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56" name="Google Shape;1056;p6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57" name="Google Shape;1057;p6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58" name="Google Shape;1058;p6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59" name="Google Shape;1059;p6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0" name="Google Shape;1060;p6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1" name="Google Shape;1061;p6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2" name="Google Shape;1062;p6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63" name="Google Shape;1063;p6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6" name="Google Shape;1066;p6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7" name="Google Shape;1067;p6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68" name="Google Shape;1068;p6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69" name="Google Shape;1069;p6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0" name="Google Shape;1070;p6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1" name="Google Shape;1071;p6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2" name="Google Shape;1072;p6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3" name="Google Shape;1073;p6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4" name="Google Shape;1074;p6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5" name="Google Shape;1075;p6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6" name="Google Shape;1076;p6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7" name="Google Shape;1077;p6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8" name="Google Shape;1078;p6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9" name="Google Shape;1079;p6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0" name="Google Shape;1080;p6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1" name="Google Shape;1081;p6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2" name="Google Shape;1082;p6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3" name="Google Shape;1083;p6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4" name="Google Shape;1084;p6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5" name="Google Shape;1085;p6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6" name="Google Shape;1086;p6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7" name="Google Shape;1087;p6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088" name="Google Shape;1088;p6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89" name="Google Shape;1089;p6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90" name="Google Shape;1090;p6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91" name="Google Shape;1091;p6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94" name="Google Shape;1094;p6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95" name="Google Shape;1095;p6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96" name="Google Shape;1096;p6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97" name="Google Shape;1097;p6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98" name="Google Shape;1098;p6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99" name="Google Shape;1099;p6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00" name="Google Shape;1100;p6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01" name="Google Shape;1101;p6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02" name="Google Shape;1102;p6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103" name="Google Shape;1103;p6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4" name="Google Shape;1104;p6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05" name="Google Shape;1105;p6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06" name="Google Shape;1106;p6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07" name="Google Shape;1107;p6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8" name="Google Shape;1108;p6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9" name="Google Shape;1109;p6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0" name="Google Shape;1110;p6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1" name="Google Shape;1111;p6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2" name="Google Shape;1112;p6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3" name="Google Shape;1113;p6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4" name="Google Shape;1114;p6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5" name="Google Shape;1115;p6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6" name="Google Shape;1116;p6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7" name="Google Shape;1117;p6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8" name="Google Shape;1118;p6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9" name="Google Shape;1119;p6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0" name="Google Shape;1120;p6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1" name="Google Shape;1121;p6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2" name="Google Shape;1122;p6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23" name="Google Shape;1123;p6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24" name="Google Shape;1124;p6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25" name="Google Shape;1125;p6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6" name="Google Shape;1126;p6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7" name="Google Shape;1127;p6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130" name="Google Shape;1130;p6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1" name="Google Shape;1131;p6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4" name="Google Shape;1134;p6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35" name="Google Shape;1135;p6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6" name="Google Shape;1136;p6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7" name="Google Shape;1137;p6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6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0" name="Google Shape;1140;p6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1" name="Google Shape;1141;p6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2" name="Google Shape;1142;p6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43" name="Google Shape;1143;p6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4" name="Google Shape;1144;p6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45" name="Google Shape;1145;p6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6" name="Google Shape;1146;p6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47" name="Google Shape;1147;p6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0" name="Google Shape;1150;p6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151" name="Google Shape;1151;p6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2" name="Google Shape;1152;p6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1153" name="Google Shape;1153;p6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4" name="Google Shape;1154;p6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155" name="Google Shape;1155;p6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6" name="Google Shape;1156;p6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57" name="Google Shape;1157;p6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8" name="Google Shape;1158;p6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9" name="Google Shape;1159;p6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0" name="Google Shape;1160;p6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61" name="Google Shape;1161;p6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7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4" name="Google Shape;1164;p7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5" name="Google Shape;1165;p7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6" name="Google Shape;1166;p7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7" name="Google Shape;1167;p7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8" name="Google Shape;1168;p7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9" name="Google Shape;1169;p7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7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172" name="Google Shape;1172;p7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1173" name="Google Shape;1173;p7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4" name="Google Shape;1174;p7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5" name="Google Shape;1175;p7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7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8" name="Google Shape;1178;p7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79" name="Google Shape;1179;p7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0" name="Google Shape;1180;p7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1" name="Google Shape;1181;p7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2" name="Google Shape;1182;p7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83" name="Google Shape;1183;p7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84" name="Google Shape;1184;p7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5" name="Google Shape;1185;p7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7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88" name="Google Shape;1188;p7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189" name="Google Shape;1189;p7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0" name="Google Shape;1190;p7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1" name="Google Shape;1191;p7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2" name="Google Shape;1192;p7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93" name="Google Shape;1193;p7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94" name="Google Shape;1194;p7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5" name="Google Shape;1195;p7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7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198" name="Google Shape;1198;p7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199" name="Google Shape;1199;p7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0" name="Google Shape;1200;p7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1" name="Google Shape;1201;p7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2" name="Google Shape;1202;p7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203" name="Google Shape;1203;p7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1204" name="Google Shape;1204;p7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5" name="Google Shape;1205;p7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7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8" name="Google Shape;1208;p7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209" name="Google Shape;1209;p7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10" name="Google Shape;1210;p7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11" name="Google Shape;1211;p7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12" name="Google Shape;1212;p7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5" name="Google Shape;1215;p7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16" name="Google Shape;1216;p7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7" name="Google Shape;1217;p7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18" name="Google Shape;1218;p7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9" name="Google Shape;1219;p7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20" name="Google Shape;1220;p7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1" name="Google Shape;1221;p7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22" name="Google Shape;1222;p7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3" name="Google Shape;1223;p7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24" name="Google Shape;1224;p7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7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227" name="Google Shape;1227;p7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228" name="Google Shape;1228;p7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31" name="Google Shape;1231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6" name="Google Shape;1236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9" name="Google Shape;1239;p8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0" name="Google Shape;1240;p8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8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5" name="Google Shape;1245;p8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8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0" name="Google Shape;1250;p8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1" name="Google Shape;1251;p8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8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6" name="Google Shape;1256;p8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0" name="Google Shape;1260;p8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1" name="Google Shape;1261;p8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2" name="Google Shape;1262;p8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3" name="Google Shape;1263;p8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4" name="Google Shape;1264;p8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5" name="Google Shape;1265;p8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9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9" name="Google Shape;1269;p9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72" name="Google Shape;1272;p9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3" name="Google Shape;1273;p9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4" name="Google Shape;1274;p9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5" name="Google Shape;1275;p9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8" name="Google Shape;1278;p9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9" name="Google Shape;1279;p9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0" name="Google Shape;1280;p9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1" name="Google Shape;1281;p9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2" name="Google Shape;1282;p9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3" name="Google Shape;1283;p9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6" name="Google Shape;1286;p9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7" name="Google Shape;1287;p9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8" name="Google Shape;1288;p9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9" name="Google Shape;1289;p9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0" name="Google Shape;1290;p9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1" name="Google Shape;1291;p9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2" name="Google Shape;1292;p9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3" name="Google Shape;1293;p9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6" name="Google Shape;1296;p9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9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9" name="Google Shape;1299;p9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0" name="Google Shape;1300;p9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9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2" name="Google Shape;1302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9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4" name="Google Shape;1304;p9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9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7" name="Google Shape;1307;p9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8" name="Google Shape;1308;p9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9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0" name="Google Shape;1310;p9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1" name="Google Shape;1311;p9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2" name="Google Shape;1312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3" name="Google Shape;1313;p9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4" name="Google Shape;1314;p9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5" name="Google Shape;1315;p9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9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9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9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9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2" name="Google Shape;1322;p9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3" name="Google Shape;1323;p9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4" name="Google Shape;1324;p9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5" name="Google Shape;1325;p9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" name="Google Shape;1326;p9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7" name="Google Shape;1327;p9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9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94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48" Type="http://schemas.openxmlformats.org/officeDocument/2006/relationships/theme" Target="../theme/theme3.xml"/><Relationship Id="rId47" Type="http://schemas.openxmlformats.org/officeDocument/2006/relationships/slideLayout" Target="../slideLayouts/slideLayout96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1E7D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1E7DD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86" name="Google Shape;886;p5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7" name="Google Shape;887;p5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  <p:sldLayoutId id="2147483742" r:id="rId46"/>
    <p:sldLayoutId id="2147483743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5.jpg"/><Relationship Id="rId9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4.jpg"/><Relationship Id="rId8" Type="http://schemas.openxmlformats.org/officeDocument/2006/relationships/image" Target="../media/image6.jpg"/><Relationship Id="rId10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24.pn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0.jp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9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PROGRAMING</a:t>
            </a:r>
            <a:endParaRPr sz="5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LANGUAGE</a:t>
            </a:r>
            <a:endParaRPr sz="55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RUST</a:t>
            </a:r>
            <a:endParaRPr sz="63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5500"/>
              <a:t>PRESENTATION</a:t>
            </a:r>
            <a:endParaRPr sz="5500"/>
          </a:p>
        </p:txBody>
      </p:sp>
      <p:sp>
        <p:nvSpPr>
          <p:cNvPr descr="A light blue rectangle." id="1334" name="Google Shape;1334;p99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rgbClr val="D5A6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1335" name="Google Shape;1335;p99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1336" name="Google Shape;1336;p99"/>
          <p:cNvSpPr/>
          <p:nvPr/>
        </p:nvSpPr>
        <p:spPr>
          <a:xfrm flipH="1">
            <a:off x="6878053" y="3905675"/>
            <a:ext cx="774600" cy="774600"/>
          </a:xfrm>
          <a:prstGeom prst="roundRect">
            <a:avLst>
              <a:gd fmla="val 19978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7" name="Google Shape;1337;p9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1338" name="Google Shape;1338;p9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31" l="-15980" r="-15980" t="3140"/>
          <a:stretch/>
        </p:blipFill>
        <p:spPr>
          <a:xfrm>
            <a:off x="228575" y="3005550"/>
            <a:ext cx="16362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id="1339" name="Google Shape;1339;p9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397" l="0" r="0" t="5389"/>
          <a:stretch/>
        </p:blipFill>
        <p:spPr>
          <a:xfrm>
            <a:off x="1149025" y="3909225"/>
            <a:ext cx="15435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id="1340" name="Google Shape;1340;p9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7378" l="0" r="0" t="0"/>
          <a:stretch/>
        </p:blipFill>
        <p:spPr>
          <a:xfrm>
            <a:off x="3525075" y="3005550"/>
            <a:ext cx="15999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id="1341" name="Google Shape;1341;p9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827" r="1897" t="0"/>
          <a:stretch/>
        </p:blipFill>
        <p:spPr>
          <a:xfrm>
            <a:off x="5183413" y="2999300"/>
            <a:ext cx="1636200" cy="1682100"/>
          </a:xfrm>
          <a:prstGeom prst="roundRect">
            <a:avLst>
              <a:gd fmla="val 16667" name="adj"/>
            </a:avLst>
          </a:prstGeom>
        </p:spPr>
      </p:pic>
      <p:pic>
        <p:nvPicPr>
          <p:cNvPr id="1342" name="Google Shape;1342;p99" title="511684matt003793-R1-045-21p.JPG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16582" r="16582" t="0"/>
          <a:stretch/>
        </p:blipFill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</p:spPr>
      </p:pic>
      <p:pic>
        <p:nvPicPr>
          <p:cNvPr id="1343" name="Google Shape;1343;p99"/>
          <p:cNvPicPr preferRelativeResize="0"/>
          <p:nvPr>
            <p:ph idx="7" type="pic"/>
          </p:nvPr>
        </p:nvPicPr>
        <p:blipFill rotWithShape="1">
          <a:blip r:embed="rId8">
            <a:alphaModFix/>
          </a:blip>
          <a:srcRect b="18715" l="60409" r="23200" t="51474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id="1344" name="Google Shape;1344;p99"/>
          <p:cNvPicPr preferRelativeResize="0"/>
          <p:nvPr>
            <p:ph idx="8" type="pic"/>
          </p:nvPr>
        </p:nvPicPr>
        <p:blipFill rotWithShape="1">
          <a:blip r:embed="rId9">
            <a:alphaModFix/>
          </a:blip>
          <a:srcRect b="74653" l="0" r="32872" t="0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id="1345" name="Google Shape;1345;p99"/>
          <p:cNvPicPr preferRelativeResize="0"/>
          <p:nvPr>
            <p:ph idx="9" type="pic"/>
          </p:nvPr>
        </p:nvPicPr>
        <p:blipFill rotWithShape="1">
          <a:blip r:embed="rId10">
            <a:alphaModFix/>
          </a:blip>
          <a:srcRect b="0" l="0" r="43230" t="0"/>
          <a:stretch/>
        </p:blipFill>
        <p:spPr>
          <a:xfrm>
            <a:off x="6879400" y="3008850"/>
            <a:ext cx="774600" cy="7677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00"/>
          <p:cNvSpPr txBox="1"/>
          <p:nvPr>
            <p:ph type="title"/>
          </p:nvPr>
        </p:nvSpPr>
        <p:spPr>
          <a:xfrm>
            <a:off x="228600" y="460100"/>
            <a:ext cx="86868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51" name="Google Shape;1351;p100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and APPLICATION</a:t>
            </a:r>
            <a:endParaRPr/>
          </a:p>
        </p:txBody>
      </p:sp>
      <p:sp>
        <p:nvSpPr>
          <p:cNvPr id="1352" name="Google Shape;1352;p100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</a:t>
            </a:r>
            <a:endParaRPr/>
          </a:p>
        </p:txBody>
      </p:sp>
      <p:sp>
        <p:nvSpPr>
          <p:cNvPr id="1353" name="Google Shape;1353;p100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OWNERSHIP</a:t>
            </a:r>
            <a:endParaRPr/>
          </a:p>
        </p:txBody>
      </p:sp>
      <p:sp>
        <p:nvSpPr>
          <p:cNvPr id="1354" name="Google Shape;1354;p100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</a:t>
            </a:r>
            <a:endParaRPr/>
          </a:p>
        </p:txBody>
      </p:sp>
      <p:sp>
        <p:nvSpPr>
          <p:cNvPr id="1355" name="Google Shape;1355;p100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EXPERIENCE</a:t>
            </a:r>
            <a:endParaRPr/>
          </a:p>
        </p:txBody>
      </p:sp>
      <p:sp>
        <p:nvSpPr>
          <p:cNvPr id="1356" name="Google Shape;1356;p100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1357" name="Google Shape;1357;p100"/>
          <p:cNvGrpSpPr/>
          <p:nvPr/>
        </p:nvGrpSpPr>
        <p:grpSpPr>
          <a:xfrm>
            <a:off x="228600" y="2211850"/>
            <a:ext cx="465300" cy="465300"/>
            <a:chOff x="228600" y="2211850"/>
            <a:chExt cx="465300" cy="465300"/>
          </a:xfrm>
        </p:grpSpPr>
        <p:sp>
          <p:nvSpPr>
            <p:cNvPr id="1358" name="Google Shape;1358;p100"/>
            <p:cNvSpPr/>
            <p:nvPr/>
          </p:nvSpPr>
          <p:spPr>
            <a:xfrm flipH="1">
              <a:off x="228600" y="22118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1359" name="Google Shape;1359;p100"/>
            <p:cNvSpPr txBox="1"/>
            <p:nvPr/>
          </p:nvSpPr>
          <p:spPr>
            <a:xfrm>
              <a:off x="228600" y="2255525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1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1360" name="Google Shape;1360;p100"/>
          <p:cNvGrpSpPr/>
          <p:nvPr/>
        </p:nvGrpSpPr>
        <p:grpSpPr>
          <a:xfrm>
            <a:off x="4525050" y="2211850"/>
            <a:ext cx="465300" cy="465300"/>
            <a:chOff x="4525050" y="2211850"/>
            <a:chExt cx="465300" cy="465300"/>
          </a:xfrm>
        </p:grpSpPr>
        <p:sp>
          <p:nvSpPr>
            <p:cNvPr id="1361" name="Google Shape;1361;p100"/>
            <p:cNvSpPr/>
            <p:nvPr/>
          </p:nvSpPr>
          <p:spPr>
            <a:xfrm flipH="1">
              <a:off x="4525050" y="22118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1362" name="Google Shape;1362;p100"/>
            <p:cNvSpPr txBox="1"/>
            <p:nvPr/>
          </p:nvSpPr>
          <p:spPr>
            <a:xfrm>
              <a:off x="4525050" y="2255525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Forum"/>
                  <a:ea typeface="Forum"/>
                  <a:cs typeface="Forum"/>
                  <a:sym typeface="Forum"/>
                </a:rPr>
                <a:t>2</a:t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1363" name="Google Shape;1363;p100"/>
          <p:cNvGrpSpPr/>
          <p:nvPr/>
        </p:nvGrpSpPr>
        <p:grpSpPr>
          <a:xfrm>
            <a:off x="2007075" y="3011250"/>
            <a:ext cx="465300" cy="465300"/>
            <a:chOff x="2007075" y="3011250"/>
            <a:chExt cx="465300" cy="465300"/>
          </a:xfrm>
        </p:grpSpPr>
        <p:sp>
          <p:nvSpPr>
            <p:cNvPr id="1364" name="Google Shape;1364;p100"/>
            <p:cNvSpPr/>
            <p:nvPr/>
          </p:nvSpPr>
          <p:spPr>
            <a:xfrm flipH="1">
              <a:off x="2007075" y="30112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1365" name="Google Shape;1365;p100"/>
            <p:cNvSpPr txBox="1"/>
            <p:nvPr/>
          </p:nvSpPr>
          <p:spPr>
            <a:xfrm>
              <a:off x="2007075" y="3059250"/>
              <a:ext cx="465300" cy="369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3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1366" name="Google Shape;1366;p100"/>
          <p:cNvGrpSpPr/>
          <p:nvPr/>
        </p:nvGrpSpPr>
        <p:grpSpPr>
          <a:xfrm>
            <a:off x="6303525" y="3011250"/>
            <a:ext cx="465300" cy="465300"/>
            <a:chOff x="6303525" y="3011250"/>
            <a:chExt cx="465300" cy="465300"/>
          </a:xfrm>
        </p:grpSpPr>
        <p:sp>
          <p:nvSpPr>
            <p:cNvPr id="1367" name="Google Shape;1367;p100"/>
            <p:cNvSpPr/>
            <p:nvPr/>
          </p:nvSpPr>
          <p:spPr>
            <a:xfrm flipH="1">
              <a:off x="6303525" y="30112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1368" name="Google Shape;1368;p100"/>
            <p:cNvSpPr txBox="1"/>
            <p:nvPr/>
          </p:nvSpPr>
          <p:spPr>
            <a:xfrm>
              <a:off x="6303525" y="3059250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4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1369" name="Google Shape;1369;p100"/>
          <p:cNvGrpSpPr/>
          <p:nvPr/>
        </p:nvGrpSpPr>
        <p:grpSpPr>
          <a:xfrm>
            <a:off x="228600" y="3810650"/>
            <a:ext cx="465300" cy="465300"/>
            <a:chOff x="228600" y="3810650"/>
            <a:chExt cx="465300" cy="465300"/>
          </a:xfrm>
        </p:grpSpPr>
        <p:sp>
          <p:nvSpPr>
            <p:cNvPr id="1370" name="Google Shape;1370;p100"/>
            <p:cNvSpPr/>
            <p:nvPr/>
          </p:nvSpPr>
          <p:spPr>
            <a:xfrm flipH="1">
              <a:off x="228600" y="38106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1371" name="Google Shape;1371;p100"/>
            <p:cNvSpPr txBox="1"/>
            <p:nvPr/>
          </p:nvSpPr>
          <p:spPr>
            <a:xfrm>
              <a:off x="228600" y="3855294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Forum"/>
                  <a:ea typeface="Forum"/>
                  <a:cs typeface="Forum"/>
                  <a:sym typeface="Forum"/>
                </a:rPr>
                <a:t>5</a:t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1372" name="Google Shape;1372;p100"/>
          <p:cNvGrpSpPr/>
          <p:nvPr/>
        </p:nvGrpSpPr>
        <p:grpSpPr>
          <a:xfrm>
            <a:off x="4525050" y="3810650"/>
            <a:ext cx="465300" cy="465300"/>
            <a:chOff x="4525050" y="3810650"/>
            <a:chExt cx="465300" cy="465300"/>
          </a:xfrm>
        </p:grpSpPr>
        <p:sp>
          <p:nvSpPr>
            <p:cNvPr id="1373" name="Google Shape;1373;p100"/>
            <p:cNvSpPr/>
            <p:nvPr/>
          </p:nvSpPr>
          <p:spPr>
            <a:xfrm flipH="1">
              <a:off x="4525050" y="38106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rgbClr val="ECC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1374" name="Google Shape;1374;p100"/>
            <p:cNvSpPr txBox="1"/>
            <p:nvPr/>
          </p:nvSpPr>
          <p:spPr>
            <a:xfrm>
              <a:off x="4525050" y="3855294"/>
              <a:ext cx="465300" cy="369300"/>
            </a:xfrm>
            <a:prstGeom prst="rect">
              <a:avLst/>
            </a:prstGeom>
            <a:solidFill>
              <a:srgbClr val="ECCE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6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sp>
        <p:nvSpPr>
          <p:cNvPr id="1375" name="Google Shape;1375;p100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01"/>
          <p:cNvSpPr/>
          <p:nvPr/>
        </p:nvSpPr>
        <p:spPr>
          <a:xfrm>
            <a:off x="7017475" y="2934150"/>
            <a:ext cx="617100" cy="619500"/>
          </a:xfrm>
          <a:prstGeom prst="ellipse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A lavender rectangle" id="1381" name="Google Shape;1381;p101"/>
          <p:cNvSpPr/>
          <p:nvPr/>
        </p:nvSpPr>
        <p:spPr>
          <a:xfrm flipH="1">
            <a:off x="1086123" y="1663275"/>
            <a:ext cx="1121100" cy="619500"/>
          </a:xfrm>
          <a:prstGeom prst="roundRect">
            <a:avLst>
              <a:gd fmla="val 19978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2" name="Google Shape;1382;p101"/>
          <p:cNvSpPr txBox="1"/>
          <p:nvPr>
            <p:ph type="title"/>
          </p:nvPr>
        </p:nvSpPr>
        <p:spPr>
          <a:xfrm>
            <a:off x="1731750" y="2043300"/>
            <a:ext cx="5680500" cy="120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OVERVIEW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AND</a:t>
            </a:r>
            <a:r>
              <a:rPr lang="en">
                <a:solidFill>
                  <a:schemeClr val="lt2"/>
                </a:solidFill>
              </a:rPr>
              <a:t> APPLICATION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383" name="Google Shape;1383;p10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102"/>
          <p:cNvPicPr preferRelativeResize="0"/>
          <p:nvPr/>
        </p:nvPicPr>
        <p:blipFill rotWithShape="1">
          <a:blip r:embed="rId3">
            <a:alphaModFix/>
          </a:blip>
          <a:srcRect b="7104" l="1075" r="3787" t="19046"/>
          <a:stretch/>
        </p:blipFill>
        <p:spPr>
          <a:xfrm rot="10800000">
            <a:off x="228600" y="102750"/>
            <a:ext cx="3364500" cy="1741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389" name="Google Shape;1389;p102"/>
          <p:cNvSpPr txBox="1"/>
          <p:nvPr>
            <p:ph type="title"/>
          </p:nvPr>
        </p:nvSpPr>
        <p:spPr>
          <a:xfrm>
            <a:off x="245321" y="3082414"/>
            <a:ext cx="5613000" cy="1897800"/>
          </a:xfrm>
          <a:prstGeom prst="rect">
            <a:avLst/>
          </a:prstGeom>
        </p:spPr>
        <p:txBody>
          <a:bodyPr anchorCtr="0" anchor="b" bIns="109100" lIns="109100" spcFirstLastPara="1" rIns="109100" wrap="square" tIns="109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96"/>
              <a:t>M</a:t>
            </a:r>
            <a:r>
              <a:rPr lang="en" sz="4296"/>
              <a:t>ulti-paradigm, general-purpose</a:t>
            </a:r>
            <a:endParaRPr sz="429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96"/>
              <a:t>systems programming language. </a:t>
            </a:r>
            <a:endParaRPr sz="4296"/>
          </a:p>
        </p:txBody>
      </p:sp>
      <p:pic>
        <p:nvPicPr>
          <p:cNvPr id="1390" name="Google Shape;1390;p102"/>
          <p:cNvPicPr preferRelativeResize="0"/>
          <p:nvPr/>
        </p:nvPicPr>
        <p:blipFill rotWithShape="1">
          <a:blip r:embed="rId4">
            <a:alphaModFix/>
          </a:blip>
          <a:srcRect b="2274" l="0" r="22082" t="29228"/>
          <a:stretch/>
        </p:blipFill>
        <p:spPr>
          <a:xfrm rot="5400000">
            <a:off x="5553837" y="2883508"/>
            <a:ext cx="2874000" cy="1421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391" name="Google Shape;1391;p102"/>
          <p:cNvSpPr txBox="1"/>
          <p:nvPr/>
        </p:nvSpPr>
        <p:spPr>
          <a:xfrm>
            <a:off x="141998" y="2106348"/>
            <a:ext cx="3579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100" lIns="109100" spcFirstLastPara="1" rIns="109100" wrap="square" tIns="109100">
            <a:sp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477"/>
              </a:spcBef>
              <a:spcAft>
                <a:spcPts val="477"/>
              </a:spcAft>
              <a:buNone/>
            </a:pPr>
            <a:r>
              <a:rPr lang="en" sz="8353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rPr>
              <a:t>RUST</a:t>
            </a:r>
            <a:endParaRPr sz="1671"/>
          </a:p>
        </p:txBody>
      </p:sp>
      <p:sp>
        <p:nvSpPr>
          <p:cNvPr id="1392" name="Google Shape;1392;p102"/>
          <p:cNvSpPr txBox="1"/>
          <p:nvPr>
            <p:ph idx="1" type="subTitle"/>
          </p:nvPr>
        </p:nvSpPr>
        <p:spPr>
          <a:xfrm>
            <a:off x="5050175" y="381425"/>
            <a:ext cx="3865200" cy="18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Designed by Graydon Hoare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The goal was C/C++ performance with increased memory saftey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3" name="Google Shape;1393;p102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1362" r="1371" t="0"/>
          <a:stretch/>
        </p:blipFill>
        <p:spPr>
          <a:xfrm>
            <a:off x="7279188" y="1723625"/>
            <a:ext cx="1636200" cy="168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94" name="Google Shape;1394;p102"/>
          <p:cNvSpPr/>
          <p:nvPr/>
        </p:nvSpPr>
        <p:spPr>
          <a:xfrm rot="10800000">
            <a:off x="2967625" y="1091775"/>
            <a:ext cx="1752300" cy="1670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03"/>
          <p:cNvSpPr txBox="1"/>
          <p:nvPr>
            <p:ph type="title"/>
          </p:nvPr>
        </p:nvSpPr>
        <p:spPr>
          <a:xfrm>
            <a:off x="5192205" y="-245098"/>
            <a:ext cx="5332800" cy="1726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accent2"/>
                </a:solidFill>
              </a:rPr>
              <a:t>DEMO</a:t>
            </a:r>
            <a:endParaRPr sz="11793">
              <a:solidFill>
                <a:schemeClr val="accent2"/>
              </a:solidFill>
            </a:endParaRPr>
          </a:p>
        </p:txBody>
      </p:sp>
      <p:sp>
        <p:nvSpPr>
          <p:cNvPr id="1400" name="Google Shape;1400;p103"/>
          <p:cNvSpPr txBox="1"/>
          <p:nvPr>
            <p:ph type="title"/>
          </p:nvPr>
        </p:nvSpPr>
        <p:spPr>
          <a:xfrm>
            <a:off x="4856725" y="-2038"/>
            <a:ext cx="5332800" cy="1240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dk2"/>
                </a:solidFill>
              </a:rPr>
              <a:t>DEMO</a:t>
            </a:r>
            <a:endParaRPr sz="11793">
              <a:solidFill>
                <a:schemeClr val="dk2"/>
              </a:solidFill>
            </a:endParaRPr>
          </a:p>
        </p:txBody>
      </p:sp>
      <p:sp>
        <p:nvSpPr>
          <p:cNvPr id="1401" name="Google Shape;1401;p103"/>
          <p:cNvSpPr txBox="1"/>
          <p:nvPr>
            <p:ph type="title"/>
          </p:nvPr>
        </p:nvSpPr>
        <p:spPr>
          <a:xfrm>
            <a:off x="4530049" y="241022"/>
            <a:ext cx="5332800" cy="1240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lt2"/>
                </a:solidFill>
              </a:rPr>
              <a:t>DEMO</a:t>
            </a:r>
            <a:endParaRPr sz="11793">
              <a:solidFill>
                <a:schemeClr val="lt2"/>
              </a:solidFill>
            </a:endParaRPr>
          </a:p>
        </p:txBody>
      </p:sp>
      <p:sp>
        <p:nvSpPr>
          <p:cNvPr id="1402" name="Google Shape;1402;p103"/>
          <p:cNvSpPr/>
          <p:nvPr/>
        </p:nvSpPr>
        <p:spPr>
          <a:xfrm flipH="1">
            <a:off x="1171493" y="1197075"/>
            <a:ext cx="871200" cy="846000"/>
          </a:xfrm>
          <a:prstGeom prst="roundRect">
            <a:avLst>
              <a:gd fmla="val 1997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43250" lIns="143250" spcFirstLastPara="1" rIns="143250" wrap="square" tIns="143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70"/>
              </a:spcAft>
              <a:buNone/>
            </a:pPr>
            <a:r>
              <a:rPr lang="en" sz="4073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1</a:t>
            </a:r>
            <a:endParaRPr sz="4073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03" name="Google Shape;1403;p103"/>
          <p:cNvSpPr/>
          <p:nvPr/>
        </p:nvSpPr>
        <p:spPr>
          <a:xfrm flipH="1">
            <a:off x="2373003" y="2692659"/>
            <a:ext cx="1425600" cy="7236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42225" lIns="142225" spcFirstLastPara="1" rIns="142225" wrap="square" tIns="14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67"/>
              </a:spcAft>
              <a:buNone/>
            </a:pPr>
            <a:r>
              <a:rPr lang="en" sz="4044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2</a:t>
            </a:r>
            <a:endParaRPr sz="4044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04" name="Google Shape;1404;p103"/>
          <p:cNvSpPr/>
          <p:nvPr/>
        </p:nvSpPr>
        <p:spPr>
          <a:xfrm flipH="1">
            <a:off x="4903319" y="3143075"/>
            <a:ext cx="1106400" cy="8394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17925" lIns="117925" spcFirstLastPara="1" rIns="117925" wrap="square" tIns="117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87"/>
              </a:spcAft>
              <a:buNone/>
            </a:pPr>
            <a:r>
              <a:rPr lang="en" sz="395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</a:t>
            </a:r>
            <a:endParaRPr sz="395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05" name="Google Shape;1405;p103"/>
          <p:cNvSpPr txBox="1"/>
          <p:nvPr>
            <p:ph idx="2" type="subTitle"/>
          </p:nvPr>
        </p:nvSpPr>
        <p:spPr>
          <a:xfrm>
            <a:off x="295750" y="2093416"/>
            <a:ext cx="2622600" cy="949500"/>
          </a:xfrm>
          <a:prstGeom prst="rect">
            <a:avLst/>
          </a:prstGeom>
        </p:spPr>
        <p:txBody>
          <a:bodyPr anchorCtr="0" anchor="t" bIns="143250" lIns="143250" spcFirstLastPara="1" rIns="143250" wrap="square" tIns="143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46"/>
              <a:t>VARIABLES</a:t>
            </a:r>
            <a:endParaRPr sz="3446"/>
          </a:p>
        </p:txBody>
      </p:sp>
      <p:sp>
        <p:nvSpPr>
          <p:cNvPr id="1406" name="Google Shape;1406;p103"/>
          <p:cNvSpPr txBox="1"/>
          <p:nvPr>
            <p:ph idx="4" type="subTitle"/>
          </p:nvPr>
        </p:nvSpPr>
        <p:spPr>
          <a:xfrm>
            <a:off x="1585338" y="3416190"/>
            <a:ext cx="2955900" cy="1016700"/>
          </a:xfrm>
          <a:prstGeom prst="rect">
            <a:avLst/>
          </a:prstGeom>
        </p:spPr>
        <p:txBody>
          <a:bodyPr anchorCtr="0" anchor="t" bIns="142225" lIns="142225" spcFirstLastPara="1" rIns="142225" wrap="square" tIns="142225">
            <a:noAutofit/>
          </a:bodyPr>
          <a:lstStyle/>
          <a:p>
            <a:pPr indent="0" lvl="0" marL="0" rtl="0" algn="ctr">
              <a:spcBef>
                <a:spcPts val="232"/>
              </a:spcBef>
              <a:spcAft>
                <a:spcPts val="0"/>
              </a:spcAft>
              <a:buNone/>
            </a:pPr>
            <a:r>
              <a:rPr lang="en" sz="3422"/>
              <a:t>OTHER</a:t>
            </a:r>
            <a:endParaRPr sz="3422"/>
          </a:p>
          <a:p>
            <a:pPr indent="0" lvl="0" marL="0" rtl="0" algn="ctr">
              <a:spcBef>
                <a:spcPts val="232"/>
              </a:spcBef>
              <a:spcAft>
                <a:spcPts val="232"/>
              </a:spcAft>
              <a:buNone/>
            </a:pPr>
            <a:r>
              <a:rPr lang="en" sz="3422"/>
              <a:t>BASICS</a:t>
            </a:r>
            <a:endParaRPr sz="3422"/>
          </a:p>
        </p:txBody>
      </p:sp>
      <p:sp>
        <p:nvSpPr>
          <p:cNvPr id="1407" name="Google Shape;1407;p103"/>
          <p:cNvSpPr txBox="1"/>
          <p:nvPr>
            <p:ph idx="6" type="subTitle"/>
          </p:nvPr>
        </p:nvSpPr>
        <p:spPr>
          <a:xfrm>
            <a:off x="3746623" y="4024924"/>
            <a:ext cx="3419700" cy="949500"/>
          </a:xfrm>
          <a:prstGeom prst="rect">
            <a:avLst/>
          </a:prstGeom>
        </p:spPr>
        <p:txBody>
          <a:bodyPr anchorCtr="0" anchor="t" bIns="142150" lIns="142150" spcFirstLastPara="1" rIns="142150" wrap="square" tIns="14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20"/>
              <a:t>FUNCTIONS</a:t>
            </a:r>
            <a:endParaRPr sz="3420"/>
          </a:p>
        </p:txBody>
      </p:sp>
      <p:sp>
        <p:nvSpPr>
          <p:cNvPr id="1408" name="Google Shape;1408;p103"/>
          <p:cNvSpPr txBox="1"/>
          <p:nvPr>
            <p:ph type="title"/>
          </p:nvPr>
        </p:nvSpPr>
        <p:spPr>
          <a:xfrm>
            <a:off x="4181958" y="463500"/>
            <a:ext cx="5332800" cy="1726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accent2"/>
                </a:solidFill>
              </a:rPr>
              <a:t>DEMO</a:t>
            </a:r>
            <a:endParaRPr sz="11793">
              <a:solidFill>
                <a:schemeClr val="accent2"/>
              </a:solidFill>
            </a:endParaRPr>
          </a:p>
        </p:txBody>
      </p:sp>
      <p:sp>
        <p:nvSpPr>
          <p:cNvPr id="1409" name="Google Shape;1409;p103"/>
          <p:cNvSpPr txBox="1"/>
          <p:nvPr>
            <p:ph type="title"/>
          </p:nvPr>
        </p:nvSpPr>
        <p:spPr>
          <a:xfrm>
            <a:off x="3846479" y="706560"/>
            <a:ext cx="5332800" cy="1240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dk2"/>
                </a:solidFill>
              </a:rPr>
              <a:t>DEMO</a:t>
            </a:r>
            <a:endParaRPr sz="11793">
              <a:solidFill>
                <a:schemeClr val="dk2"/>
              </a:solidFill>
            </a:endParaRPr>
          </a:p>
        </p:txBody>
      </p:sp>
      <p:sp>
        <p:nvSpPr>
          <p:cNvPr id="1410" name="Google Shape;1410;p103"/>
          <p:cNvSpPr txBox="1"/>
          <p:nvPr>
            <p:ph type="title"/>
          </p:nvPr>
        </p:nvSpPr>
        <p:spPr>
          <a:xfrm>
            <a:off x="3519802" y="949620"/>
            <a:ext cx="5332800" cy="1240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lt2"/>
                </a:solidFill>
              </a:rPr>
              <a:t>DEMO</a:t>
            </a:r>
            <a:endParaRPr sz="11793">
              <a:solidFill>
                <a:schemeClr val="lt2"/>
              </a:solidFill>
            </a:endParaRPr>
          </a:p>
        </p:txBody>
      </p:sp>
      <p:sp>
        <p:nvSpPr>
          <p:cNvPr id="1411" name="Google Shape;1411;p103"/>
          <p:cNvSpPr txBox="1"/>
          <p:nvPr>
            <p:ph type="title"/>
          </p:nvPr>
        </p:nvSpPr>
        <p:spPr>
          <a:xfrm>
            <a:off x="3204852" y="1197086"/>
            <a:ext cx="5332800" cy="1726800"/>
          </a:xfrm>
          <a:prstGeom prst="rect">
            <a:avLst/>
          </a:prstGeom>
        </p:spPr>
        <p:txBody>
          <a:bodyPr anchorCtr="0" anchor="t" bIns="107825" lIns="107825" spcFirstLastPara="1" rIns="107825" wrap="square" tIns="107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3">
                <a:solidFill>
                  <a:schemeClr val="accent1"/>
                </a:solidFill>
              </a:rPr>
              <a:t>DEMO</a:t>
            </a:r>
            <a:endParaRPr sz="1179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04"/>
          <p:cNvSpPr/>
          <p:nvPr/>
        </p:nvSpPr>
        <p:spPr>
          <a:xfrm>
            <a:off x="241548" y="392515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17" name="Google Shape;1417;p104"/>
          <p:cNvSpPr/>
          <p:nvPr/>
        </p:nvSpPr>
        <p:spPr>
          <a:xfrm>
            <a:off x="241548" y="4343999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18" name="Google Shape;1418;p104"/>
          <p:cNvSpPr/>
          <p:nvPr/>
        </p:nvSpPr>
        <p:spPr>
          <a:xfrm>
            <a:off x="1961253" y="3506303"/>
            <a:ext cx="1646100" cy="339600"/>
          </a:xfrm>
          <a:prstGeom prst="roundRect">
            <a:avLst>
              <a:gd fmla="val 32745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19" name="Google Shape;1419;p104"/>
          <p:cNvSpPr/>
          <p:nvPr/>
        </p:nvSpPr>
        <p:spPr>
          <a:xfrm>
            <a:off x="1961253" y="392515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descr="A texture with blue, red, and orange layers. " id="1420" name="Google Shape;1420;p104"/>
          <p:cNvPicPr preferRelativeResize="0"/>
          <p:nvPr/>
        </p:nvPicPr>
        <p:blipFill rotWithShape="1">
          <a:blip r:embed="rId3">
            <a:alphaModFix/>
          </a:blip>
          <a:srcRect b="44578" l="0" r="2410" t="15464"/>
          <a:stretch/>
        </p:blipFill>
        <p:spPr>
          <a:xfrm>
            <a:off x="152825" y="939400"/>
            <a:ext cx="3688500" cy="862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421" name="Google Shape;1421;p104"/>
          <p:cNvSpPr/>
          <p:nvPr/>
        </p:nvSpPr>
        <p:spPr>
          <a:xfrm>
            <a:off x="1961253" y="4343999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22" name="Google Shape;1422;p104"/>
          <p:cNvSpPr/>
          <p:nvPr/>
        </p:nvSpPr>
        <p:spPr>
          <a:xfrm>
            <a:off x="241548" y="3506303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descr="A red-orange watercolor texture. " id="1423" name="Google Shape;1423;p104"/>
          <p:cNvPicPr preferRelativeResize="0"/>
          <p:nvPr/>
        </p:nvPicPr>
        <p:blipFill rotWithShape="1">
          <a:blip r:embed="rId4">
            <a:alphaModFix/>
          </a:blip>
          <a:srcRect b="13369" l="5894" r="10030" t="8543"/>
          <a:stretch/>
        </p:blipFill>
        <p:spPr>
          <a:xfrm>
            <a:off x="6411007" y="2445148"/>
            <a:ext cx="2428500" cy="981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424" name="Google Shape;1424;p104"/>
          <p:cNvSpPr txBox="1"/>
          <p:nvPr>
            <p:ph idx="3" type="subTitle"/>
          </p:nvPr>
        </p:nvSpPr>
        <p:spPr>
          <a:xfrm>
            <a:off x="1747930" y="1715032"/>
            <a:ext cx="3524100" cy="454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INTEGERS</a:t>
            </a:r>
            <a:endParaRPr sz="4200">
              <a:solidFill>
                <a:schemeClr val="accent4"/>
              </a:solidFill>
            </a:endParaRPr>
          </a:p>
        </p:txBody>
      </p:sp>
      <p:sp>
        <p:nvSpPr>
          <p:cNvPr id="1425" name="Google Shape;1425;p104"/>
          <p:cNvSpPr txBox="1"/>
          <p:nvPr>
            <p:ph idx="4" type="subTitle"/>
          </p:nvPr>
        </p:nvSpPr>
        <p:spPr>
          <a:xfrm>
            <a:off x="5400722" y="2971502"/>
            <a:ext cx="3438900" cy="5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FLOATS</a:t>
            </a:r>
            <a:endParaRPr sz="4200">
              <a:solidFill>
                <a:schemeClr val="accent4"/>
              </a:solidFill>
            </a:endParaRPr>
          </a:p>
        </p:txBody>
      </p:sp>
      <p:sp>
        <p:nvSpPr>
          <p:cNvPr id="1426" name="Google Shape;1426;p104"/>
          <p:cNvSpPr txBox="1"/>
          <p:nvPr>
            <p:ph idx="14" type="subTitle"/>
          </p:nvPr>
        </p:nvSpPr>
        <p:spPr>
          <a:xfrm>
            <a:off x="402399" y="404615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64-BIT</a:t>
            </a:r>
            <a:endParaRPr/>
          </a:p>
        </p:txBody>
      </p:sp>
      <p:sp>
        <p:nvSpPr>
          <p:cNvPr id="1427" name="Google Shape;1427;p104"/>
          <p:cNvSpPr txBox="1"/>
          <p:nvPr>
            <p:ph idx="15" type="subTitle"/>
          </p:nvPr>
        </p:nvSpPr>
        <p:spPr>
          <a:xfrm>
            <a:off x="402399" y="446401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128-BIT</a:t>
            </a:r>
            <a:endParaRPr/>
          </a:p>
        </p:txBody>
      </p:sp>
      <p:sp>
        <p:nvSpPr>
          <p:cNvPr id="1428" name="Google Shape;1428;p104"/>
          <p:cNvSpPr txBox="1"/>
          <p:nvPr>
            <p:ph idx="16" type="subTitle"/>
          </p:nvPr>
        </p:nvSpPr>
        <p:spPr>
          <a:xfrm>
            <a:off x="2122104" y="3625552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i32</a:t>
            </a:r>
            <a:endParaRPr/>
          </a:p>
        </p:txBody>
      </p:sp>
      <p:sp>
        <p:nvSpPr>
          <p:cNvPr id="1429" name="Google Shape;1429;p104"/>
          <p:cNvSpPr txBox="1"/>
          <p:nvPr>
            <p:ph idx="17" type="subTitle"/>
          </p:nvPr>
        </p:nvSpPr>
        <p:spPr>
          <a:xfrm>
            <a:off x="2122104" y="404615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i64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0" name="Google Shape;1430;p104"/>
          <p:cNvSpPr txBox="1"/>
          <p:nvPr>
            <p:ph idx="18" type="subTitle"/>
          </p:nvPr>
        </p:nvSpPr>
        <p:spPr>
          <a:xfrm>
            <a:off x="2122104" y="446401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i128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1" name="Google Shape;1431;p104"/>
          <p:cNvSpPr txBox="1"/>
          <p:nvPr>
            <p:ph type="title"/>
          </p:nvPr>
        </p:nvSpPr>
        <p:spPr>
          <a:xfrm>
            <a:off x="3063300" y="460100"/>
            <a:ext cx="58521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chemeClr val="accent5"/>
                </a:solidFill>
              </a:rPr>
              <a:t>VARIABLE TYPES</a:t>
            </a:r>
            <a:endParaRPr sz="6700">
              <a:solidFill>
                <a:schemeClr val="accent3"/>
              </a:solidFill>
            </a:endParaRPr>
          </a:p>
        </p:txBody>
      </p:sp>
      <p:sp>
        <p:nvSpPr>
          <p:cNvPr id="1432" name="Google Shape;1432;p104"/>
          <p:cNvSpPr/>
          <p:nvPr/>
        </p:nvSpPr>
        <p:spPr>
          <a:xfrm>
            <a:off x="3680930" y="392515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33" name="Google Shape;1433;p104"/>
          <p:cNvSpPr/>
          <p:nvPr/>
        </p:nvSpPr>
        <p:spPr>
          <a:xfrm>
            <a:off x="3680930" y="4343999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34" name="Google Shape;1434;p104"/>
          <p:cNvSpPr/>
          <p:nvPr/>
        </p:nvSpPr>
        <p:spPr>
          <a:xfrm>
            <a:off x="3680930" y="3506303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35" name="Google Shape;1435;p104"/>
          <p:cNvSpPr txBox="1"/>
          <p:nvPr>
            <p:ph idx="14" type="subTitle"/>
          </p:nvPr>
        </p:nvSpPr>
        <p:spPr>
          <a:xfrm>
            <a:off x="3841781" y="404615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u64</a:t>
            </a:r>
            <a:endParaRPr/>
          </a:p>
        </p:txBody>
      </p:sp>
      <p:sp>
        <p:nvSpPr>
          <p:cNvPr id="1436" name="Google Shape;1436;p104"/>
          <p:cNvSpPr txBox="1"/>
          <p:nvPr>
            <p:ph idx="15" type="subTitle"/>
          </p:nvPr>
        </p:nvSpPr>
        <p:spPr>
          <a:xfrm>
            <a:off x="3841781" y="446401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u128</a:t>
            </a:r>
            <a:endParaRPr/>
          </a:p>
        </p:txBody>
      </p:sp>
      <p:sp>
        <p:nvSpPr>
          <p:cNvPr id="1437" name="Google Shape;1437;p104"/>
          <p:cNvSpPr/>
          <p:nvPr/>
        </p:nvSpPr>
        <p:spPr>
          <a:xfrm>
            <a:off x="5400254" y="392515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38" name="Google Shape;1438;p104"/>
          <p:cNvSpPr/>
          <p:nvPr/>
        </p:nvSpPr>
        <p:spPr>
          <a:xfrm>
            <a:off x="5400254" y="3506303"/>
            <a:ext cx="1646100" cy="339600"/>
          </a:xfrm>
          <a:prstGeom prst="roundRect">
            <a:avLst>
              <a:gd fmla="val 32745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f32</a:t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39" name="Google Shape;1439;p104"/>
          <p:cNvSpPr txBox="1"/>
          <p:nvPr>
            <p:ph idx="14" type="subTitle"/>
          </p:nvPr>
        </p:nvSpPr>
        <p:spPr>
          <a:xfrm>
            <a:off x="5561105" y="404615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f64</a:t>
            </a:r>
            <a:endParaRPr/>
          </a:p>
        </p:txBody>
      </p:sp>
      <p:sp>
        <p:nvSpPr>
          <p:cNvPr id="1440" name="Google Shape;1440;p104"/>
          <p:cNvSpPr/>
          <p:nvPr/>
        </p:nvSpPr>
        <p:spPr>
          <a:xfrm>
            <a:off x="241548" y="263191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41" name="Google Shape;1441;p104"/>
          <p:cNvSpPr/>
          <p:nvPr/>
        </p:nvSpPr>
        <p:spPr>
          <a:xfrm>
            <a:off x="241548" y="3050759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42" name="Google Shape;1442;p104"/>
          <p:cNvSpPr/>
          <p:nvPr/>
        </p:nvSpPr>
        <p:spPr>
          <a:xfrm>
            <a:off x="1961253" y="2213063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43" name="Google Shape;1443;p104"/>
          <p:cNvSpPr/>
          <p:nvPr/>
        </p:nvSpPr>
        <p:spPr>
          <a:xfrm>
            <a:off x="1961253" y="263191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44" name="Google Shape;1444;p104"/>
          <p:cNvSpPr/>
          <p:nvPr/>
        </p:nvSpPr>
        <p:spPr>
          <a:xfrm>
            <a:off x="1961253" y="3050759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45" name="Google Shape;1445;p104"/>
          <p:cNvSpPr/>
          <p:nvPr/>
        </p:nvSpPr>
        <p:spPr>
          <a:xfrm>
            <a:off x="241548" y="2213063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LENGTH</a:t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46" name="Google Shape;1446;p104"/>
          <p:cNvSpPr txBox="1"/>
          <p:nvPr>
            <p:ph idx="14" type="subTitle"/>
          </p:nvPr>
        </p:nvSpPr>
        <p:spPr>
          <a:xfrm>
            <a:off x="402399" y="275291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8-BIT</a:t>
            </a:r>
            <a:endParaRPr/>
          </a:p>
        </p:txBody>
      </p:sp>
      <p:sp>
        <p:nvSpPr>
          <p:cNvPr id="1447" name="Google Shape;1447;p104"/>
          <p:cNvSpPr txBox="1"/>
          <p:nvPr>
            <p:ph idx="15" type="subTitle"/>
          </p:nvPr>
        </p:nvSpPr>
        <p:spPr>
          <a:xfrm>
            <a:off x="402399" y="317077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16-BIT</a:t>
            </a:r>
            <a:endParaRPr/>
          </a:p>
        </p:txBody>
      </p:sp>
      <p:sp>
        <p:nvSpPr>
          <p:cNvPr id="1448" name="Google Shape;1448;p104"/>
          <p:cNvSpPr txBox="1"/>
          <p:nvPr>
            <p:ph idx="16" type="subTitle"/>
          </p:nvPr>
        </p:nvSpPr>
        <p:spPr>
          <a:xfrm>
            <a:off x="2122104" y="2343136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SIGNED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9" name="Google Shape;1449;p104"/>
          <p:cNvSpPr txBox="1"/>
          <p:nvPr>
            <p:ph idx="17" type="subTitle"/>
          </p:nvPr>
        </p:nvSpPr>
        <p:spPr>
          <a:xfrm>
            <a:off x="2122104" y="275291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0" name="Google Shape;1450;p104"/>
          <p:cNvSpPr txBox="1"/>
          <p:nvPr>
            <p:ph idx="18" type="subTitle"/>
          </p:nvPr>
        </p:nvSpPr>
        <p:spPr>
          <a:xfrm>
            <a:off x="2122104" y="317077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i16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104"/>
          <p:cNvSpPr/>
          <p:nvPr/>
        </p:nvSpPr>
        <p:spPr>
          <a:xfrm>
            <a:off x="3680930" y="2631911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52" name="Google Shape;1452;p104"/>
          <p:cNvSpPr/>
          <p:nvPr/>
        </p:nvSpPr>
        <p:spPr>
          <a:xfrm>
            <a:off x="3680930" y="3050759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53" name="Google Shape;1453;p104"/>
          <p:cNvSpPr/>
          <p:nvPr/>
        </p:nvSpPr>
        <p:spPr>
          <a:xfrm>
            <a:off x="3680930" y="2213063"/>
            <a:ext cx="1646100" cy="339600"/>
          </a:xfrm>
          <a:prstGeom prst="roundRect">
            <a:avLst>
              <a:gd fmla="val 327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UNSIGNED</a:t>
            </a:r>
            <a:endParaRPr sz="12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54" name="Google Shape;1454;p104"/>
          <p:cNvSpPr txBox="1"/>
          <p:nvPr>
            <p:ph idx="14" type="subTitle"/>
          </p:nvPr>
        </p:nvSpPr>
        <p:spPr>
          <a:xfrm>
            <a:off x="3841781" y="2752914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u8</a:t>
            </a:r>
            <a:endParaRPr/>
          </a:p>
        </p:txBody>
      </p:sp>
      <p:sp>
        <p:nvSpPr>
          <p:cNvPr id="1455" name="Google Shape;1455;p104"/>
          <p:cNvSpPr txBox="1"/>
          <p:nvPr>
            <p:ph idx="15" type="subTitle"/>
          </p:nvPr>
        </p:nvSpPr>
        <p:spPr>
          <a:xfrm>
            <a:off x="3841781" y="317077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u16</a:t>
            </a:r>
            <a:endParaRPr/>
          </a:p>
        </p:txBody>
      </p:sp>
      <p:sp>
        <p:nvSpPr>
          <p:cNvPr id="1456" name="Google Shape;1456;p104"/>
          <p:cNvSpPr txBox="1"/>
          <p:nvPr>
            <p:ph idx="14" type="subTitle"/>
          </p:nvPr>
        </p:nvSpPr>
        <p:spPr>
          <a:xfrm>
            <a:off x="402135" y="3622877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32-BIT</a:t>
            </a:r>
            <a:endParaRPr/>
          </a:p>
        </p:txBody>
      </p:sp>
      <p:sp>
        <p:nvSpPr>
          <p:cNvPr id="1457" name="Google Shape;1457;p104"/>
          <p:cNvSpPr txBox="1"/>
          <p:nvPr>
            <p:ph idx="14" type="subTitle"/>
          </p:nvPr>
        </p:nvSpPr>
        <p:spPr>
          <a:xfrm>
            <a:off x="3841434" y="3612051"/>
            <a:ext cx="14856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u32</a:t>
            </a:r>
            <a:endParaRPr/>
          </a:p>
        </p:txBody>
      </p:sp>
      <p:sp>
        <p:nvSpPr>
          <p:cNvPr id="1458" name="Google Shape;1458;p104"/>
          <p:cNvSpPr txBox="1"/>
          <p:nvPr>
            <p:ph idx="4" type="subTitle"/>
          </p:nvPr>
        </p:nvSpPr>
        <p:spPr>
          <a:xfrm>
            <a:off x="7119950" y="4335975"/>
            <a:ext cx="1795500" cy="5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</a:rPr>
              <a:t>BOOLEAN</a:t>
            </a:r>
            <a:endParaRPr sz="24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</a:rPr>
              <a:t>+CHAR&amp;STR</a:t>
            </a:r>
            <a:endParaRPr sz="2400">
              <a:solidFill>
                <a:schemeClr val="accent4"/>
              </a:solidFill>
            </a:endParaRPr>
          </a:p>
        </p:txBody>
      </p:sp>
      <p:sp>
        <p:nvSpPr>
          <p:cNvPr id="1459" name="Google Shape;1459;p104"/>
          <p:cNvSpPr/>
          <p:nvPr/>
        </p:nvSpPr>
        <p:spPr>
          <a:xfrm>
            <a:off x="7119225" y="3925150"/>
            <a:ext cx="514800" cy="339600"/>
          </a:xfrm>
          <a:prstGeom prst="roundRect">
            <a:avLst>
              <a:gd fmla="val 3274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7175" lIns="57175" spcFirstLastPara="1" rIns="57175" wrap="square" tIns="5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60" name="Google Shape;1460;p104"/>
          <p:cNvSpPr/>
          <p:nvPr/>
        </p:nvSpPr>
        <p:spPr>
          <a:xfrm>
            <a:off x="7681650" y="3925150"/>
            <a:ext cx="514800" cy="3396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75" lIns="57175" spcFirstLastPara="1" rIns="57175" wrap="square" tIns="5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61" name="Google Shape;1461;p104"/>
          <p:cNvSpPr txBox="1"/>
          <p:nvPr>
            <p:ph idx="14" type="subTitle"/>
          </p:nvPr>
        </p:nvSpPr>
        <p:spPr>
          <a:xfrm>
            <a:off x="7193850" y="4052349"/>
            <a:ext cx="3672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true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2" name="Google Shape;1462;p104"/>
          <p:cNvSpPr txBox="1"/>
          <p:nvPr>
            <p:ph idx="14" type="subTitle"/>
          </p:nvPr>
        </p:nvSpPr>
        <p:spPr>
          <a:xfrm>
            <a:off x="7755450" y="4052350"/>
            <a:ext cx="441000" cy="21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false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3" name="Google Shape;1463;p104"/>
          <p:cNvSpPr txBox="1"/>
          <p:nvPr/>
        </p:nvSpPr>
        <p:spPr>
          <a:xfrm>
            <a:off x="5226900" y="1084577"/>
            <a:ext cx="368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chemeClr val="accent3"/>
                </a:solidFill>
                <a:latin typeface="Forum"/>
                <a:ea typeface="Forum"/>
                <a:cs typeface="Forum"/>
                <a:sym typeface="Forum"/>
              </a:rPr>
              <a:t>+TYPING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with peach and green colors" id="1468" name="Google Shape;1468;p105"/>
          <p:cNvPicPr preferRelativeResize="0"/>
          <p:nvPr/>
        </p:nvPicPr>
        <p:blipFill rotWithShape="1">
          <a:blip r:embed="rId3">
            <a:alphaModFix/>
          </a:blip>
          <a:srcRect b="2470" l="5666" r="46684" t="1809"/>
          <a:stretch/>
        </p:blipFill>
        <p:spPr>
          <a:xfrm>
            <a:off x="228600" y="627075"/>
            <a:ext cx="871500" cy="2359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469" name="Google Shape;1469;p105"/>
          <p:cNvSpPr txBox="1"/>
          <p:nvPr>
            <p:ph type="title"/>
          </p:nvPr>
        </p:nvSpPr>
        <p:spPr>
          <a:xfrm>
            <a:off x="3063300" y="460100"/>
            <a:ext cx="58521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chemeClr val="accent5"/>
                </a:solidFill>
              </a:rPr>
              <a:t>VARIABLE TYPES</a:t>
            </a:r>
            <a:endParaRPr sz="6700">
              <a:solidFill>
                <a:schemeClr val="accent3"/>
              </a:solidFill>
            </a:endParaRPr>
          </a:p>
        </p:txBody>
      </p:sp>
      <p:sp>
        <p:nvSpPr>
          <p:cNvPr id="1470" name="Google Shape;1470;p105"/>
          <p:cNvSpPr/>
          <p:nvPr/>
        </p:nvSpPr>
        <p:spPr>
          <a:xfrm rot="10800000">
            <a:off x="4041000" y="1576750"/>
            <a:ext cx="1215600" cy="1244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bstract colorful painting (Provided by Getty Images)" id="1471" name="Google Shape;1471;p105"/>
          <p:cNvPicPr preferRelativeResize="0"/>
          <p:nvPr/>
        </p:nvPicPr>
        <p:blipFill rotWithShape="1">
          <a:blip r:embed="rId4">
            <a:alphaModFix/>
          </a:blip>
          <a:srcRect b="22056" l="20926" r="49651" t="11569"/>
          <a:stretch/>
        </p:blipFill>
        <p:spPr>
          <a:xfrm>
            <a:off x="8040300" y="2986875"/>
            <a:ext cx="871500" cy="1214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472" name="Google Shape;1472;p105"/>
          <p:cNvSpPr txBox="1"/>
          <p:nvPr/>
        </p:nvSpPr>
        <p:spPr>
          <a:xfrm>
            <a:off x="5226900" y="1084577"/>
            <a:ext cx="368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chemeClr val="accent3"/>
                </a:solidFill>
                <a:latin typeface="Forum"/>
                <a:ea typeface="Forum"/>
                <a:cs typeface="Forum"/>
                <a:sym typeface="Forum"/>
              </a:rPr>
              <a:t>+TYPING</a:t>
            </a:r>
            <a:endParaRPr/>
          </a:p>
        </p:txBody>
      </p:sp>
      <p:sp>
        <p:nvSpPr>
          <p:cNvPr id="1473" name="Google Shape;1473;p105"/>
          <p:cNvSpPr txBox="1"/>
          <p:nvPr>
            <p:ph idx="5" type="subTitle"/>
          </p:nvPr>
        </p:nvSpPr>
        <p:spPr>
          <a:xfrm>
            <a:off x="948424" y="1397550"/>
            <a:ext cx="3395700" cy="99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DEFAULT</a:t>
            </a:r>
            <a:endParaRPr sz="4200">
              <a:solidFill>
                <a:schemeClr val="accent4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+SPECIFIED</a:t>
            </a:r>
            <a:endParaRPr sz="4200">
              <a:solidFill>
                <a:schemeClr val="accent3"/>
              </a:solidFill>
            </a:endParaRPr>
          </a:p>
        </p:txBody>
      </p:sp>
      <p:sp>
        <p:nvSpPr>
          <p:cNvPr id="1474" name="Google Shape;1474;p105"/>
          <p:cNvSpPr txBox="1"/>
          <p:nvPr>
            <p:ph idx="6" type="subTitle"/>
          </p:nvPr>
        </p:nvSpPr>
        <p:spPr>
          <a:xfrm>
            <a:off x="5104950" y="3916625"/>
            <a:ext cx="3395700" cy="995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IMMUTABLE</a:t>
            </a:r>
            <a:endParaRPr sz="4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MUTABLE+</a:t>
            </a:r>
            <a:endParaRPr sz="4200">
              <a:solidFill>
                <a:schemeClr val="accent4"/>
              </a:solidFill>
            </a:endParaRPr>
          </a:p>
        </p:txBody>
      </p:sp>
      <p:sp>
        <p:nvSpPr>
          <p:cNvPr id="1475" name="Google Shape;1475;p105"/>
          <p:cNvSpPr/>
          <p:nvPr/>
        </p:nvSpPr>
        <p:spPr>
          <a:xfrm>
            <a:off x="948425" y="2393259"/>
            <a:ext cx="19632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et num = 6;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76" name="Google Shape;1476;p105"/>
          <p:cNvSpPr/>
          <p:nvPr/>
        </p:nvSpPr>
        <p:spPr>
          <a:xfrm>
            <a:off x="2081700" y="3038550"/>
            <a:ext cx="2537400" cy="5985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et num: u8 = 6;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77" name="Google Shape;1477;p105"/>
          <p:cNvSpPr/>
          <p:nvPr/>
        </p:nvSpPr>
        <p:spPr>
          <a:xfrm>
            <a:off x="948425" y="3683859"/>
            <a:ext cx="19632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let dec = 5.5;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78" name="Google Shape;1478;p105"/>
          <p:cNvSpPr/>
          <p:nvPr/>
        </p:nvSpPr>
        <p:spPr>
          <a:xfrm>
            <a:off x="2081700" y="4329150"/>
            <a:ext cx="2537400" cy="5985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let dec: f64 = 5.5;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79" name="Google Shape;1479;p105"/>
          <p:cNvSpPr/>
          <p:nvPr/>
        </p:nvSpPr>
        <p:spPr>
          <a:xfrm>
            <a:off x="5007750" y="3038550"/>
            <a:ext cx="26841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et mut name = “Lee”;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80" name="Google Shape;1480;p105"/>
          <p:cNvSpPr/>
          <p:nvPr/>
        </p:nvSpPr>
        <p:spPr>
          <a:xfrm>
            <a:off x="5802450" y="2393238"/>
            <a:ext cx="2537400" cy="598500"/>
          </a:xfrm>
          <a:prstGeom prst="roundRect">
            <a:avLst>
              <a:gd fmla="val 327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let name = “Bob”;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06"/>
          <p:cNvPicPr preferRelativeResize="0"/>
          <p:nvPr/>
        </p:nvPicPr>
        <p:blipFill rotWithShape="1">
          <a:blip r:embed="rId3">
            <a:alphaModFix/>
          </a:blip>
          <a:srcRect b="48439" l="1105" r="45748" t="17446"/>
          <a:stretch/>
        </p:blipFill>
        <p:spPr>
          <a:xfrm>
            <a:off x="2329800" y="125875"/>
            <a:ext cx="2530500" cy="1082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486" name="Google Shape;1486;p106"/>
          <p:cNvSpPr txBox="1"/>
          <p:nvPr>
            <p:ph idx="3" type="subTitle"/>
          </p:nvPr>
        </p:nvSpPr>
        <p:spPr>
          <a:xfrm>
            <a:off x="0" y="908400"/>
            <a:ext cx="2987400" cy="95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9E7B4D"/>
                </a:solidFill>
              </a:rPr>
              <a:t>OUTPUT</a:t>
            </a:r>
            <a:endParaRPr sz="6500">
              <a:solidFill>
                <a:srgbClr val="9E7B4D"/>
              </a:solidFill>
            </a:endParaRPr>
          </a:p>
        </p:txBody>
      </p:sp>
      <p:sp>
        <p:nvSpPr>
          <p:cNvPr id="1487" name="Google Shape;1487;p106"/>
          <p:cNvSpPr txBox="1"/>
          <p:nvPr>
            <p:ph type="title"/>
          </p:nvPr>
        </p:nvSpPr>
        <p:spPr>
          <a:xfrm>
            <a:off x="91350" y="3337800"/>
            <a:ext cx="70074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</a:rPr>
              <a:t>OTHER</a:t>
            </a:r>
            <a:endParaRPr sz="7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</a:rPr>
              <a:t>FUNDAMENTALS</a:t>
            </a:r>
            <a:endParaRPr sz="8000">
              <a:solidFill>
                <a:schemeClr val="dk2"/>
              </a:solidFill>
            </a:endParaRPr>
          </a:p>
        </p:txBody>
      </p:sp>
      <p:sp>
        <p:nvSpPr>
          <p:cNvPr id="1488" name="Google Shape;1488;p106"/>
          <p:cNvSpPr/>
          <p:nvPr/>
        </p:nvSpPr>
        <p:spPr>
          <a:xfrm>
            <a:off x="160425" y="1636060"/>
            <a:ext cx="2876400" cy="518700"/>
          </a:xfrm>
          <a:prstGeom prst="roundRect">
            <a:avLst>
              <a:gd fmla="val 327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println!(“Hello World!”)</a:t>
            </a:r>
            <a:endParaRPr sz="20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89" name="Google Shape;1489;p106"/>
          <p:cNvSpPr txBox="1"/>
          <p:nvPr>
            <p:ph idx="3" type="subTitle"/>
          </p:nvPr>
        </p:nvSpPr>
        <p:spPr>
          <a:xfrm>
            <a:off x="3278063" y="1346217"/>
            <a:ext cx="2530500" cy="518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accent5"/>
                </a:solidFill>
              </a:rPr>
              <a:t>LOOPS</a:t>
            </a:r>
            <a:endParaRPr sz="6500">
              <a:solidFill>
                <a:schemeClr val="accent5"/>
              </a:solidFill>
            </a:endParaRPr>
          </a:p>
        </p:txBody>
      </p:sp>
      <p:sp>
        <p:nvSpPr>
          <p:cNvPr id="1490" name="Google Shape;1490;p106"/>
          <p:cNvSpPr txBox="1"/>
          <p:nvPr>
            <p:ph idx="3" type="subTitle"/>
          </p:nvPr>
        </p:nvSpPr>
        <p:spPr>
          <a:xfrm>
            <a:off x="6617000" y="1064806"/>
            <a:ext cx="2156100" cy="12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accent1"/>
                </a:solidFill>
              </a:rPr>
              <a:t>IF</a:t>
            </a:r>
            <a:endParaRPr sz="6500">
              <a:solidFill>
                <a:schemeClr val="accent1"/>
              </a:solidFill>
            </a:endParaRPr>
          </a:p>
          <a:p>
            <a:pPr indent="0" lvl="0" marL="0" marR="0" rtl="0" algn="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accent1"/>
                </a:solidFill>
              </a:rPr>
              <a:t>+ELSE</a:t>
            </a:r>
            <a:endParaRPr sz="6500">
              <a:solidFill>
                <a:schemeClr val="accent1"/>
              </a:solidFill>
            </a:endParaRPr>
          </a:p>
        </p:txBody>
      </p:sp>
      <p:sp>
        <p:nvSpPr>
          <p:cNvPr id="1491" name="Google Shape;1491;p106"/>
          <p:cNvSpPr/>
          <p:nvPr/>
        </p:nvSpPr>
        <p:spPr>
          <a:xfrm>
            <a:off x="160425" y="2346688"/>
            <a:ext cx="1781700" cy="475200"/>
          </a:xfrm>
          <a:prstGeom prst="roundRect">
            <a:avLst>
              <a:gd fmla="val 327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println!(“{}”, x)</a:t>
            </a:r>
            <a:endParaRPr sz="20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92" name="Google Shape;1492;p106"/>
          <p:cNvSpPr/>
          <p:nvPr/>
        </p:nvSpPr>
        <p:spPr>
          <a:xfrm>
            <a:off x="3929663" y="2013127"/>
            <a:ext cx="1878900" cy="518700"/>
          </a:xfrm>
          <a:prstGeom prst="roundRect">
            <a:avLst>
              <a:gd fmla="val 3274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loop{break}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93" name="Google Shape;1493;p106"/>
          <p:cNvSpPr/>
          <p:nvPr/>
        </p:nvSpPr>
        <p:spPr>
          <a:xfrm>
            <a:off x="3278063" y="2636750"/>
            <a:ext cx="2530500" cy="518700"/>
          </a:xfrm>
          <a:prstGeom prst="roundRect">
            <a:avLst>
              <a:gd fmla="val 3274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while condition 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94" name="Google Shape;1494;p106"/>
          <p:cNvSpPr/>
          <p:nvPr/>
        </p:nvSpPr>
        <p:spPr>
          <a:xfrm>
            <a:off x="3702863" y="3260388"/>
            <a:ext cx="2105700" cy="518700"/>
          </a:xfrm>
          <a:prstGeom prst="roundRect">
            <a:avLst>
              <a:gd fmla="val 3274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for item in list{}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95" name="Google Shape;1495;p106"/>
          <p:cNvSpPr/>
          <p:nvPr/>
        </p:nvSpPr>
        <p:spPr>
          <a:xfrm>
            <a:off x="6330650" y="2454800"/>
            <a:ext cx="1781700" cy="518700"/>
          </a:xfrm>
          <a:prstGeom prst="roundRect">
            <a:avLst>
              <a:gd fmla="val 3274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if condition 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96" name="Google Shape;1496;p106"/>
          <p:cNvSpPr/>
          <p:nvPr/>
        </p:nvSpPr>
        <p:spPr>
          <a:xfrm>
            <a:off x="6327225" y="3078450"/>
            <a:ext cx="2216100" cy="518700"/>
          </a:xfrm>
          <a:prstGeom prst="roundRect">
            <a:avLst>
              <a:gd fmla="val 3274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lse 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if condition 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497" name="Google Shape;1497;p106"/>
          <p:cNvSpPr/>
          <p:nvPr/>
        </p:nvSpPr>
        <p:spPr>
          <a:xfrm>
            <a:off x="7547625" y="3702100"/>
            <a:ext cx="995700" cy="518700"/>
          </a:xfrm>
          <a:prstGeom prst="roundRect">
            <a:avLst>
              <a:gd fmla="val 3274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else{}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07"/>
          <p:cNvPicPr preferRelativeResize="0"/>
          <p:nvPr/>
        </p:nvPicPr>
        <p:blipFill rotWithShape="1">
          <a:blip r:embed="rId3">
            <a:alphaModFix/>
          </a:blip>
          <a:srcRect b="41719" l="0" r="0" t="41719"/>
          <a:stretch/>
        </p:blipFill>
        <p:spPr>
          <a:xfrm rot="5400000">
            <a:off x="3796725" y="1641738"/>
            <a:ext cx="3688500" cy="862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503" name="Google Shape;1503;p107"/>
          <p:cNvPicPr preferRelativeResize="0"/>
          <p:nvPr/>
        </p:nvPicPr>
        <p:blipFill rotWithShape="1">
          <a:blip r:embed="rId4">
            <a:alphaModFix/>
          </a:blip>
          <a:srcRect b="33692" l="29374" r="19754" t="40912"/>
          <a:stretch/>
        </p:blipFill>
        <p:spPr>
          <a:xfrm rot="5400000">
            <a:off x="2397300" y="161100"/>
            <a:ext cx="1688400" cy="1823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04" name="Google Shape;1504;p107"/>
          <p:cNvSpPr txBox="1"/>
          <p:nvPr>
            <p:ph type="title"/>
          </p:nvPr>
        </p:nvSpPr>
        <p:spPr>
          <a:xfrm>
            <a:off x="5209875" y="460100"/>
            <a:ext cx="3705600" cy="4811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00">
                <a:solidFill>
                  <a:schemeClr val="accent2"/>
                </a:solidFill>
              </a:rPr>
              <a:t>FUNCTIONS</a:t>
            </a:r>
            <a:endParaRPr sz="14600">
              <a:solidFill>
                <a:schemeClr val="accent2"/>
              </a:solidFill>
            </a:endParaRPr>
          </a:p>
        </p:txBody>
      </p:sp>
      <p:sp>
        <p:nvSpPr>
          <p:cNvPr id="1505" name="Google Shape;1505;p107"/>
          <p:cNvSpPr txBox="1"/>
          <p:nvPr>
            <p:ph idx="5" type="subTitle"/>
          </p:nvPr>
        </p:nvSpPr>
        <p:spPr>
          <a:xfrm>
            <a:off x="490675" y="565439"/>
            <a:ext cx="2089200" cy="49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HEADER</a:t>
            </a:r>
            <a:endParaRPr sz="4200">
              <a:solidFill>
                <a:schemeClr val="accent3"/>
              </a:solidFill>
            </a:endParaRPr>
          </a:p>
        </p:txBody>
      </p:sp>
      <p:sp>
        <p:nvSpPr>
          <p:cNvPr id="1506" name="Google Shape;1506;p107"/>
          <p:cNvSpPr/>
          <p:nvPr/>
        </p:nvSpPr>
        <p:spPr>
          <a:xfrm>
            <a:off x="490675" y="1009019"/>
            <a:ext cx="22911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n test_function() 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07" name="Google Shape;1507;p107"/>
          <p:cNvSpPr txBox="1"/>
          <p:nvPr>
            <p:ph idx="5" type="subTitle"/>
          </p:nvPr>
        </p:nvSpPr>
        <p:spPr>
          <a:xfrm>
            <a:off x="490675" y="1845325"/>
            <a:ext cx="4351200" cy="49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PASSING </a:t>
            </a:r>
            <a:r>
              <a:rPr lang="en" sz="4200">
                <a:solidFill>
                  <a:schemeClr val="accent5"/>
                </a:solidFill>
              </a:rPr>
              <a:t>VARIABLES</a:t>
            </a:r>
            <a:endParaRPr sz="4200">
              <a:solidFill>
                <a:schemeClr val="accent5"/>
              </a:solidFill>
            </a:endParaRPr>
          </a:p>
        </p:txBody>
      </p:sp>
      <p:sp>
        <p:nvSpPr>
          <p:cNvPr id="1508" name="Google Shape;1508;p107"/>
          <p:cNvSpPr txBox="1"/>
          <p:nvPr>
            <p:ph idx="5" type="subTitle"/>
          </p:nvPr>
        </p:nvSpPr>
        <p:spPr>
          <a:xfrm>
            <a:off x="490675" y="3088950"/>
            <a:ext cx="2802600" cy="49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</a:rPr>
              <a:t>RETURNING</a:t>
            </a:r>
            <a:endParaRPr sz="4200">
              <a:solidFill>
                <a:schemeClr val="accent3"/>
              </a:solidFill>
            </a:endParaRPr>
          </a:p>
        </p:txBody>
      </p:sp>
      <p:sp>
        <p:nvSpPr>
          <p:cNvPr id="1509" name="Google Shape;1509;p107"/>
          <p:cNvSpPr/>
          <p:nvPr/>
        </p:nvSpPr>
        <p:spPr>
          <a:xfrm>
            <a:off x="490675" y="2272500"/>
            <a:ext cx="34746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test_function(x: i32) 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10" name="Google Shape;1510;p107"/>
          <p:cNvSpPr/>
          <p:nvPr/>
        </p:nvSpPr>
        <p:spPr>
          <a:xfrm>
            <a:off x="490675" y="3590100"/>
            <a:ext cx="44163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test_function(x: i32) -&gt; i32 {}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11" name="Google Shape;1511;p107"/>
          <p:cNvSpPr/>
          <p:nvPr/>
        </p:nvSpPr>
        <p:spPr>
          <a:xfrm>
            <a:off x="490675" y="4279807"/>
            <a:ext cx="4351200" cy="598500"/>
          </a:xfrm>
          <a:prstGeom prst="roundRect">
            <a:avLst>
              <a:gd fmla="val 3274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x</a:t>
            </a:r>
            <a:r>
              <a:rPr lang="en" sz="20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+ 7                               (no ; to return)</a:t>
            </a:r>
            <a:endParaRPr sz="20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08"/>
          <p:cNvSpPr/>
          <p:nvPr/>
        </p:nvSpPr>
        <p:spPr>
          <a:xfrm rot="-5926060">
            <a:off x="-1345301" y="3321620"/>
            <a:ext cx="7537985" cy="753912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7" name="Google Shape;1517;p108"/>
          <p:cNvSpPr/>
          <p:nvPr/>
        </p:nvSpPr>
        <p:spPr>
          <a:xfrm rot="4857453">
            <a:off x="-1548467" y="-4292032"/>
            <a:ext cx="7537880" cy="753906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18" name="Google Shape;1518;p108"/>
          <p:cNvPicPr preferRelativeResize="0"/>
          <p:nvPr/>
        </p:nvPicPr>
        <p:blipFill rotWithShape="1">
          <a:blip r:embed="rId3">
            <a:alphaModFix/>
          </a:blip>
          <a:srcRect b="26315" l="43513" r="8183" t="46545"/>
          <a:stretch/>
        </p:blipFill>
        <p:spPr>
          <a:xfrm>
            <a:off x="843450" y="2237400"/>
            <a:ext cx="2311200" cy="230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19" name="Google Shape;1519;p108"/>
          <p:cNvSpPr txBox="1"/>
          <p:nvPr>
            <p:ph type="title"/>
          </p:nvPr>
        </p:nvSpPr>
        <p:spPr>
          <a:xfrm>
            <a:off x="2486400" y="916418"/>
            <a:ext cx="6516900" cy="38322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HIP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SHIP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RSHIP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ERSHIP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NERSHIP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2"/>
                </a:solidFill>
              </a:rPr>
              <a:t>   WNERSHIP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lt2"/>
              </a:solidFill>
            </a:endParaRPr>
          </a:p>
        </p:txBody>
      </p:sp>
      <p:sp>
        <p:nvSpPr>
          <p:cNvPr id="1520" name="Google Shape;1520;p108"/>
          <p:cNvSpPr txBox="1"/>
          <p:nvPr>
            <p:ph idx="2" type="subTitle"/>
          </p:nvPr>
        </p:nvSpPr>
        <p:spPr>
          <a:xfrm>
            <a:off x="447150" y="457200"/>
            <a:ext cx="3953100" cy="1780200"/>
          </a:xfrm>
          <a:prstGeom prst="rect">
            <a:avLst/>
          </a:prstGeom>
        </p:spPr>
        <p:txBody>
          <a:bodyPr anchorCtr="0" anchor="t" bIns="123300" lIns="123300" spcFirstLastPara="1" rIns="123300" wrap="square" tIns="12330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STRINGS</a:t>
            </a:r>
            <a:endParaRPr sz="7200"/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 STAND</a:t>
            </a:r>
            <a:endParaRPr sz="7200"/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  OUT</a:t>
            </a:r>
            <a:endParaRPr sz="7200"/>
          </a:p>
        </p:txBody>
      </p:sp>
      <p:sp>
        <p:nvSpPr>
          <p:cNvPr id="1521" name="Google Shape;1521;p108"/>
          <p:cNvSpPr txBox="1"/>
          <p:nvPr>
            <p:ph type="title"/>
          </p:nvPr>
        </p:nvSpPr>
        <p:spPr>
          <a:xfrm>
            <a:off x="2486400" y="3871325"/>
            <a:ext cx="6516900" cy="11532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accent4"/>
                </a:solidFill>
              </a:rPr>
              <a:t>OWNERSHIP</a:t>
            </a:r>
            <a:endParaRPr sz="10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colorful painting (Provided by Getty Images)" id="1526" name="Google Shape;1526;p109"/>
          <p:cNvPicPr preferRelativeResize="0"/>
          <p:nvPr/>
        </p:nvPicPr>
        <p:blipFill rotWithShape="1">
          <a:blip r:embed="rId3">
            <a:alphaModFix/>
          </a:blip>
          <a:srcRect b="22056" l="20925" r="38101" t="11569"/>
          <a:stretch/>
        </p:blipFill>
        <p:spPr>
          <a:xfrm>
            <a:off x="6802800" y="1359775"/>
            <a:ext cx="1785600" cy="1787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27" name="Google Shape;1527;p109"/>
          <p:cNvSpPr txBox="1"/>
          <p:nvPr>
            <p:ph idx="3" type="subTitle"/>
          </p:nvPr>
        </p:nvSpPr>
        <p:spPr>
          <a:xfrm>
            <a:off x="3154650" y="140475"/>
            <a:ext cx="5930100" cy="257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lt2"/>
                </a:solidFill>
              </a:rPr>
              <a:t>MEMORY WHEN</a:t>
            </a:r>
            <a:endParaRPr sz="6500">
              <a:solidFill>
                <a:schemeClr val="lt2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2"/>
                </a:solidFill>
              </a:rPr>
              <a:t>PASSING</a:t>
            </a:r>
            <a:endParaRPr sz="7000">
              <a:solidFill>
                <a:schemeClr val="lt2"/>
              </a:solidFill>
            </a:endParaRPr>
          </a:p>
        </p:txBody>
      </p:sp>
      <p:sp>
        <p:nvSpPr>
          <p:cNvPr id="1528" name="Google Shape;1528;p109"/>
          <p:cNvSpPr/>
          <p:nvPr/>
        </p:nvSpPr>
        <p:spPr>
          <a:xfrm>
            <a:off x="2861550" y="3778650"/>
            <a:ext cx="2946900" cy="1133700"/>
          </a:xfrm>
          <a:prstGeom prst="roundRect">
            <a:avLst>
              <a:gd fmla="val 2202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</a:t>
            </a:r>
            <a:r>
              <a:rPr lang="en" sz="1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et s1 = String::from("hello”);</a:t>
            </a:r>
            <a:endParaRPr sz="17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l</a:t>
            </a:r>
            <a:r>
              <a:rPr lang="en" sz="1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et s2 = s1;</a:t>
            </a:r>
            <a:endParaRPr sz="17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id="1529" name="Google Shape;1529;p109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2483625"/>
            <a:ext cx="2519100" cy="2519400"/>
          </a:xfrm>
          <a:prstGeom prst="roundRect">
            <a:avLst>
              <a:gd fmla="val 10593" name="adj"/>
            </a:avLst>
          </a:prstGeom>
          <a:noFill/>
          <a:ln>
            <a:noFill/>
          </a:ln>
        </p:spPr>
      </p:pic>
      <p:sp>
        <p:nvSpPr>
          <p:cNvPr id="1530" name="Google Shape;1530;p109"/>
          <p:cNvSpPr txBox="1"/>
          <p:nvPr>
            <p:ph idx="3" type="subTitle"/>
          </p:nvPr>
        </p:nvSpPr>
        <p:spPr>
          <a:xfrm>
            <a:off x="5405250" y="2968625"/>
            <a:ext cx="3679500" cy="1943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>
                <a:solidFill>
                  <a:schemeClr val="dk2"/>
                </a:solidFill>
              </a:rPr>
              <a:t>&amp; STRING</a:t>
            </a:r>
            <a:endParaRPr sz="59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>
                <a:solidFill>
                  <a:schemeClr val="dk2"/>
                </a:solidFill>
              </a:rPr>
              <a:t>REASSIG</a:t>
            </a:r>
            <a:endParaRPr sz="69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>
                <a:solidFill>
                  <a:schemeClr val="dk2"/>
                </a:solidFill>
              </a:rPr>
              <a:t>-NMENT</a:t>
            </a:r>
            <a:endParaRPr sz="6900">
              <a:solidFill>
                <a:schemeClr val="dk2"/>
              </a:solidFill>
            </a:endParaRPr>
          </a:p>
        </p:txBody>
      </p:sp>
      <p:sp>
        <p:nvSpPr>
          <p:cNvPr id="1531" name="Google Shape;1531;p109"/>
          <p:cNvSpPr/>
          <p:nvPr/>
        </p:nvSpPr>
        <p:spPr>
          <a:xfrm>
            <a:off x="228600" y="140475"/>
            <a:ext cx="2519100" cy="2232600"/>
          </a:xfrm>
          <a:prstGeom prst="roundRect">
            <a:avLst>
              <a:gd fmla="val 84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main() {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s = String::from("hello"); 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pass_string(s);            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x = 5;      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pass_integer(x);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32" name="Google Shape;1532;p109"/>
          <p:cNvSpPr/>
          <p:nvPr/>
        </p:nvSpPr>
        <p:spPr>
          <a:xfrm>
            <a:off x="2861550" y="945050"/>
            <a:ext cx="2946900" cy="1428000"/>
          </a:xfrm>
          <a:prstGeom prst="roundRect">
            <a:avLst>
              <a:gd fmla="val 1374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9F9F9"/>
                </a:solidFill>
                <a:latin typeface="Forum"/>
                <a:ea typeface="Forum"/>
                <a:cs typeface="Forum"/>
                <a:sym typeface="Forum"/>
              </a:rPr>
              <a:t>fn pass_string(some_string: String) {</a:t>
            </a:r>
            <a:endParaRPr>
              <a:solidFill>
                <a:srgbClr val="F9F9F9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9F9F9"/>
                </a:solidFill>
                <a:latin typeface="Forum"/>
                <a:ea typeface="Forum"/>
                <a:cs typeface="Forum"/>
                <a:sym typeface="Forum"/>
              </a:rPr>
              <a:t>    println!("{some_string}");</a:t>
            </a:r>
            <a:endParaRPr>
              <a:solidFill>
                <a:srgbClr val="F9F9F9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9F9F9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sz="16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33" name="Google Shape;1533;p109"/>
          <p:cNvSpPr/>
          <p:nvPr/>
        </p:nvSpPr>
        <p:spPr>
          <a:xfrm>
            <a:off x="2861550" y="2490100"/>
            <a:ext cx="2994600" cy="1171500"/>
          </a:xfrm>
          <a:prstGeom prst="roundRect">
            <a:avLst>
              <a:gd fmla="val 1374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9F9F9"/>
                </a:solidFill>
                <a:latin typeface="Forum"/>
                <a:ea typeface="Forum"/>
                <a:cs typeface="Forum"/>
                <a:sym typeface="Forum"/>
              </a:rPr>
              <a:t>fn pass_interger(some_integer: i32) {</a:t>
            </a:r>
            <a:endParaRPr>
              <a:solidFill>
                <a:srgbClr val="F9F9F9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9F9F9"/>
                </a:solidFill>
                <a:latin typeface="Forum"/>
                <a:ea typeface="Forum"/>
                <a:cs typeface="Forum"/>
                <a:sym typeface="Forum"/>
              </a:rPr>
              <a:t>    println!("{some_integer}");</a:t>
            </a:r>
            <a:endParaRPr>
              <a:solidFill>
                <a:srgbClr val="F9F9F9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9F9F9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>
              <a:solidFill>
                <a:srgbClr val="F9F9F9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" name="Google Shape;1538;p110"/>
          <p:cNvPicPr preferRelativeResize="0"/>
          <p:nvPr/>
        </p:nvPicPr>
        <p:blipFill rotWithShape="1">
          <a:blip r:embed="rId3">
            <a:alphaModFix/>
          </a:blip>
          <a:srcRect b="1186" l="10010" r="24049" t="-40"/>
          <a:stretch/>
        </p:blipFill>
        <p:spPr>
          <a:xfrm rot="10800000">
            <a:off x="6708900" y="1255575"/>
            <a:ext cx="2331900" cy="2330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39" name="Google Shape;1539;p110"/>
          <p:cNvSpPr txBox="1"/>
          <p:nvPr>
            <p:ph type="title"/>
          </p:nvPr>
        </p:nvSpPr>
        <p:spPr>
          <a:xfrm>
            <a:off x="0" y="2667300"/>
            <a:ext cx="8560800" cy="1153200"/>
          </a:xfrm>
          <a:prstGeom prst="rect">
            <a:avLst/>
          </a:prstGeom>
          <a:effectLst>
            <a:reflection blurRad="0" dir="0" dist="0" endA="0" fadeDir="5400012" kx="0" rotWithShape="0" algn="bl" stPos="0" sy="-100000" ky="0"/>
          </a:effectLst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0">
                <a:solidFill>
                  <a:schemeClr val="accent4"/>
                </a:solidFill>
              </a:rPr>
              <a:t>CONCURRENC</a:t>
            </a:r>
            <a:r>
              <a:rPr lang="en" sz="9300">
                <a:solidFill>
                  <a:schemeClr val="accent5"/>
                </a:solidFill>
              </a:rPr>
              <a:t>Y</a:t>
            </a:r>
            <a:endParaRPr sz="9300">
              <a:solidFill>
                <a:schemeClr val="accent5"/>
              </a:solidFill>
            </a:endParaRPr>
          </a:p>
        </p:txBody>
      </p:sp>
      <p:sp>
        <p:nvSpPr>
          <p:cNvPr descr="A lavender rectangle" id="1540" name="Google Shape;1540;p110"/>
          <p:cNvSpPr/>
          <p:nvPr/>
        </p:nvSpPr>
        <p:spPr>
          <a:xfrm flipH="1">
            <a:off x="228650" y="228600"/>
            <a:ext cx="2280300" cy="1406100"/>
          </a:xfrm>
          <a:prstGeom prst="roundRect">
            <a:avLst>
              <a:gd fmla="val 19978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41" name="Google Shape;1541;p110"/>
          <p:cNvSpPr/>
          <p:nvPr/>
        </p:nvSpPr>
        <p:spPr>
          <a:xfrm>
            <a:off x="1727943" y="866401"/>
            <a:ext cx="680400" cy="683100"/>
          </a:xfrm>
          <a:prstGeom prst="ellipse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42" name="Google Shape;1542;p110"/>
          <p:cNvSpPr txBox="1"/>
          <p:nvPr>
            <p:ph idx="2" type="subTitle"/>
          </p:nvPr>
        </p:nvSpPr>
        <p:spPr>
          <a:xfrm>
            <a:off x="94000" y="2194500"/>
            <a:ext cx="3953100" cy="754500"/>
          </a:xfrm>
          <a:prstGeom prst="rect">
            <a:avLst/>
          </a:prstGeom>
        </p:spPr>
        <p:txBody>
          <a:bodyPr anchorCtr="0" anchor="t" bIns="123300" lIns="123300" spcFirstLastPara="1" rIns="123300" wrap="square" tIns="12330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fearless</a:t>
            </a:r>
            <a:endParaRPr sz="7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11"/>
          <p:cNvSpPr/>
          <p:nvPr/>
        </p:nvSpPr>
        <p:spPr>
          <a:xfrm>
            <a:off x="6193050" y="2027266"/>
            <a:ext cx="2675400" cy="663900"/>
          </a:xfrm>
          <a:prstGeom prst="roundRect">
            <a:avLst>
              <a:gd fmla="val 84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Who can access data at the same time</a:t>
            </a:r>
            <a:endParaRPr sz="150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48" name="Google Shape;1548;p111"/>
          <p:cNvSpPr/>
          <p:nvPr/>
        </p:nvSpPr>
        <p:spPr>
          <a:xfrm>
            <a:off x="6193050" y="1422591"/>
            <a:ext cx="2220900" cy="494100"/>
          </a:xfrm>
          <a:prstGeom prst="roundRect">
            <a:avLst>
              <a:gd fmla="val 84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Who can mutate data</a:t>
            </a:r>
            <a:endParaRPr sz="150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49" name="Google Shape;1549;p111"/>
          <p:cNvSpPr/>
          <p:nvPr/>
        </p:nvSpPr>
        <p:spPr>
          <a:xfrm>
            <a:off x="6193050" y="817916"/>
            <a:ext cx="1571400" cy="494100"/>
          </a:xfrm>
          <a:prstGeom prst="roundRect">
            <a:avLst>
              <a:gd fmla="val 84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Who owns data</a:t>
            </a:r>
            <a:endParaRPr sz="150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id="1550" name="Google Shape;1550;p111"/>
          <p:cNvPicPr preferRelativeResize="0"/>
          <p:nvPr/>
        </p:nvPicPr>
        <p:blipFill rotWithShape="1">
          <a:blip r:embed="rId3">
            <a:alphaModFix/>
          </a:blip>
          <a:srcRect b="2274" l="0" r="22082" t="29228"/>
          <a:stretch/>
        </p:blipFill>
        <p:spPr>
          <a:xfrm rot="5400000">
            <a:off x="-669463" y="3998133"/>
            <a:ext cx="2874000" cy="1421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551" name="Google Shape;1551;p111"/>
          <p:cNvPicPr preferRelativeResize="0"/>
          <p:nvPr/>
        </p:nvPicPr>
        <p:blipFill rotWithShape="1">
          <a:blip r:embed="rId4">
            <a:alphaModFix/>
          </a:blip>
          <a:srcRect b="50506" l="0" r="1768" t="8818"/>
          <a:stretch/>
        </p:blipFill>
        <p:spPr>
          <a:xfrm rot="5400000">
            <a:off x="3281450" y="613250"/>
            <a:ext cx="2867400" cy="1676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52" name="Google Shape;1552;p111"/>
          <p:cNvSpPr txBox="1"/>
          <p:nvPr>
            <p:ph idx="3" type="subTitle"/>
          </p:nvPr>
        </p:nvSpPr>
        <p:spPr>
          <a:xfrm>
            <a:off x="98250" y="88700"/>
            <a:ext cx="5930100" cy="257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lt2"/>
                </a:solidFill>
              </a:rPr>
              <a:t>COMPILER</a:t>
            </a:r>
            <a:br>
              <a:rPr lang="en" sz="6500">
                <a:solidFill>
                  <a:schemeClr val="lt2"/>
                </a:solidFill>
              </a:rPr>
            </a:br>
            <a:r>
              <a:rPr lang="en" sz="6500">
                <a:solidFill>
                  <a:schemeClr val="lt2"/>
                </a:solidFill>
              </a:rPr>
              <a:t>CATCHES</a:t>
            </a:r>
            <a:br>
              <a:rPr lang="en" sz="6500">
                <a:solidFill>
                  <a:schemeClr val="lt2"/>
                </a:solidFill>
              </a:rPr>
            </a:br>
            <a:r>
              <a:rPr lang="en" sz="6500">
                <a:solidFill>
                  <a:schemeClr val="lt2"/>
                </a:solidFill>
              </a:rPr>
              <a:t>ALL</a:t>
            </a:r>
            <a:endParaRPr sz="7000">
              <a:solidFill>
                <a:schemeClr val="lt2"/>
              </a:solidFill>
            </a:endParaRPr>
          </a:p>
        </p:txBody>
      </p:sp>
      <p:sp>
        <p:nvSpPr>
          <p:cNvPr id="1553" name="Google Shape;1553;p111"/>
          <p:cNvSpPr txBox="1"/>
          <p:nvPr>
            <p:ph idx="3" type="subTitle"/>
          </p:nvPr>
        </p:nvSpPr>
        <p:spPr>
          <a:xfrm>
            <a:off x="4840100" y="238725"/>
            <a:ext cx="3242100" cy="83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>
                <a:solidFill>
                  <a:schemeClr val="dk2"/>
                </a:solidFill>
              </a:rPr>
              <a:t>CHECKS:</a:t>
            </a:r>
            <a:endParaRPr sz="6900">
              <a:solidFill>
                <a:schemeClr val="dk2"/>
              </a:solidFill>
            </a:endParaRPr>
          </a:p>
        </p:txBody>
      </p:sp>
      <p:sp>
        <p:nvSpPr>
          <p:cNvPr id="1554" name="Google Shape;1554;p111"/>
          <p:cNvSpPr/>
          <p:nvPr/>
        </p:nvSpPr>
        <p:spPr>
          <a:xfrm>
            <a:off x="4252105" y="4042160"/>
            <a:ext cx="4009200" cy="663900"/>
          </a:xfrm>
          <a:prstGeom prst="roundRect">
            <a:avLst>
              <a:gd fmla="val 84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Any number of immutable references, but no mutation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55" name="Google Shape;1555;p111"/>
          <p:cNvSpPr txBox="1"/>
          <p:nvPr>
            <p:ph idx="3" type="subTitle"/>
          </p:nvPr>
        </p:nvSpPr>
        <p:spPr>
          <a:xfrm>
            <a:off x="404605" y="2947811"/>
            <a:ext cx="3852000" cy="83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>
                <a:solidFill>
                  <a:schemeClr val="accent1"/>
                </a:solidFill>
              </a:rPr>
              <a:t>ENFORCES</a:t>
            </a:r>
            <a:r>
              <a:rPr lang="en" sz="5900">
                <a:solidFill>
                  <a:schemeClr val="accent1"/>
                </a:solidFill>
              </a:rPr>
              <a:t>:</a:t>
            </a:r>
            <a:endParaRPr sz="6900">
              <a:solidFill>
                <a:schemeClr val="accent1"/>
              </a:solidFill>
            </a:endParaRPr>
          </a:p>
        </p:txBody>
      </p:sp>
      <p:sp>
        <p:nvSpPr>
          <p:cNvPr id="1556" name="Google Shape;1556;p111"/>
          <p:cNvSpPr/>
          <p:nvPr/>
        </p:nvSpPr>
        <p:spPr>
          <a:xfrm>
            <a:off x="4252105" y="3437472"/>
            <a:ext cx="3460200" cy="494100"/>
          </a:xfrm>
          <a:prstGeom prst="roundRect">
            <a:avLst>
              <a:gd fmla="val 84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Only one mutable reference at a time</a:t>
            </a:r>
            <a:endParaRPr sz="1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-orange watercolor texture. " id="1561" name="Google Shape;1561;p112"/>
          <p:cNvPicPr preferRelativeResize="0"/>
          <p:nvPr/>
        </p:nvPicPr>
        <p:blipFill rotWithShape="1">
          <a:blip r:embed="rId3">
            <a:alphaModFix/>
          </a:blip>
          <a:srcRect b="13369" l="5894" r="10030" t="8543"/>
          <a:stretch/>
        </p:blipFill>
        <p:spPr>
          <a:xfrm>
            <a:off x="2654925" y="-611225"/>
            <a:ext cx="2749500" cy="128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562" name="Google Shape;1562;p112"/>
          <p:cNvPicPr preferRelativeResize="0"/>
          <p:nvPr/>
        </p:nvPicPr>
        <p:blipFill rotWithShape="1">
          <a:blip r:embed="rId4">
            <a:alphaModFix/>
          </a:blip>
          <a:srcRect b="41720" l="0" r="0" t="29419"/>
          <a:stretch/>
        </p:blipFill>
        <p:spPr>
          <a:xfrm rot="5400000">
            <a:off x="5015818" y="1455700"/>
            <a:ext cx="4677000" cy="2236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63" name="Google Shape;1563;p112"/>
          <p:cNvSpPr txBox="1"/>
          <p:nvPr>
            <p:ph type="title"/>
          </p:nvPr>
        </p:nvSpPr>
        <p:spPr>
          <a:xfrm>
            <a:off x="238103" y="457200"/>
            <a:ext cx="6794400" cy="4926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900">
                <a:solidFill>
                  <a:schemeClr val="accent2"/>
                </a:solidFill>
              </a:rPr>
              <a:t>MY</a:t>
            </a:r>
            <a:endParaRPr sz="189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100">
                <a:solidFill>
                  <a:schemeClr val="accent2"/>
                </a:solidFill>
              </a:rPr>
              <a:t>EXPER-</a:t>
            </a:r>
            <a:endParaRPr sz="18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100">
                <a:solidFill>
                  <a:schemeClr val="accent2"/>
                </a:solidFill>
              </a:rPr>
              <a:t>IENCE</a:t>
            </a:r>
            <a:endParaRPr sz="18100">
              <a:solidFill>
                <a:schemeClr val="accent2"/>
              </a:solidFill>
            </a:endParaRPr>
          </a:p>
        </p:txBody>
      </p:sp>
      <p:pic>
        <p:nvPicPr>
          <p:cNvPr id="1564" name="Google Shape;1564;p112"/>
          <p:cNvPicPr preferRelativeResize="0"/>
          <p:nvPr/>
        </p:nvPicPr>
        <p:blipFill rotWithShape="1">
          <a:blip r:embed="rId5">
            <a:alphaModFix/>
          </a:blip>
          <a:srcRect b="2274" l="0" r="62206" t="29228"/>
          <a:stretch/>
        </p:blipFill>
        <p:spPr>
          <a:xfrm rot="5400000">
            <a:off x="7251668" y="3069425"/>
            <a:ext cx="1126800" cy="11493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565" name="Google Shape;1565;p112"/>
          <p:cNvPicPr preferRelativeResize="0"/>
          <p:nvPr/>
        </p:nvPicPr>
        <p:blipFill rotWithShape="1">
          <a:blip r:embed="rId6">
            <a:alphaModFix/>
          </a:blip>
          <a:srcRect b="2274" l="0" r="29123" t="29228"/>
          <a:stretch/>
        </p:blipFill>
        <p:spPr>
          <a:xfrm rot="5400000">
            <a:off x="6173818" y="1360425"/>
            <a:ext cx="1175400" cy="797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Google Shape;1570;p113"/>
          <p:cNvPicPr preferRelativeResize="0"/>
          <p:nvPr/>
        </p:nvPicPr>
        <p:blipFill rotWithShape="1">
          <a:blip r:embed="rId3">
            <a:alphaModFix/>
          </a:blip>
          <a:srcRect b="1186" l="10010" r="24049" t="-40"/>
          <a:stretch/>
        </p:blipFill>
        <p:spPr>
          <a:xfrm rot="10800000">
            <a:off x="4269788" y="1193588"/>
            <a:ext cx="3012000" cy="3010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descr="A red-orange watercolor texture. " id="1571" name="Google Shape;1571;p113"/>
          <p:cNvPicPr preferRelativeResize="0"/>
          <p:nvPr/>
        </p:nvPicPr>
        <p:blipFill rotWithShape="1">
          <a:blip r:embed="rId4">
            <a:alphaModFix/>
          </a:blip>
          <a:srcRect b="13369" l="5894" r="10030" t="8543"/>
          <a:stretch/>
        </p:blipFill>
        <p:spPr>
          <a:xfrm rot="5400000">
            <a:off x="6970200" y="942275"/>
            <a:ext cx="2749500" cy="128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72" name="Google Shape;1572;p113"/>
          <p:cNvSpPr txBox="1"/>
          <p:nvPr>
            <p:ph type="title"/>
          </p:nvPr>
        </p:nvSpPr>
        <p:spPr>
          <a:xfrm>
            <a:off x="-7" y="209085"/>
            <a:ext cx="6794400" cy="175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900">
                <a:solidFill>
                  <a:schemeClr val="accent2"/>
                </a:solidFill>
              </a:rPr>
              <a:t>setup</a:t>
            </a:r>
            <a:endParaRPr sz="18100">
              <a:solidFill>
                <a:schemeClr val="accent2"/>
              </a:solidFill>
            </a:endParaRPr>
          </a:p>
        </p:txBody>
      </p:sp>
      <p:pic>
        <p:nvPicPr>
          <p:cNvPr id="1573" name="Google Shape;1573;p113"/>
          <p:cNvPicPr preferRelativeResize="0"/>
          <p:nvPr/>
        </p:nvPicPr>
        <p:blipFill rotWithShape="1">
          <a:blip r:embed="rId5">
            <a:alphaModFix/>
          </a:blip>
          <a:srcRect b="27314" l="41044" r="35795" t="30710"/>
          <a:stretch/>
        </p:blipFill>
        <p:spPr>
          <a:xfrm rot="5400000">
            <a:off x="6421750" y="2992663"/>
            <a:ext cx="1455300" cy="1484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574" name="Google Shape;1574;p113"/>
          <p:cNvPicPr preferRelativeResize="0"/>
          <p:nvPr/>
        </p:nvPicPr>
        <p:blipFill rotWithShape="1">
          <a:blip r:embed="rId6">
            <a:alphaModFix/>
          </a:blip>
          <a:srcRect b="2274" l="0" r="29123" t="29228"/>
          <a:stretch/>
        </p:blipFill>
        <p:spPr>
          <a:xfrm rot="5400000">
            <a:off x="7112850" y="1585350"/>
            <a:ext cx="1175400" cy="797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descr="A lavender rectangle" id="1575" name="Google Shape;1575;p113"/>
          <p:cNvSpPr/>
          <p:nvPr/>
        </p:nvSpPr>
        <p:spPr>
          <a:xfrm flipH="1">
            <a:off x="228700" y="1800425"/>
            <a:ext cx="3727500" cy="3111900"/>
          </a:xfrm>
          <a:prstGeom prst="roundRect">
            <a:avLst>
              <a:gd fmla="val 10281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-377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3"/>
              <a:buFont typeface="Forum"/>
              <a:buChar char="●"/>
            </a:pPr>
            <a:r>
              <a:rPr lang="en" sz="2343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Download Rust installer</a:t>
            </a:r>
            <a:endParaRPr sz="2343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-377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3"/>
              <a:buFont typeface="Forum"/>
              <a:buChar char="●"/>
            </a:pPr>
            <a:r>
              <a:rPr lang="en" sz="2343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Install the Visual Studio C++ Build tools</a:t>
            </a:r>
            <a:endParaRPr sz="2343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-377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3"/>
              <a:buFont typeface="Forum"/>
              <a:buChar char="○"/>
            </a:pPr>
            <a:r>
              <a:rPr lang="en" sz="2343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Must be x64 MSVC toolchain</a:t>
            </a:r>
            <a:endParaRPr sz="2343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-377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3"/>
              <a:buFont typeface="Forum"/>
              <a:buChar char="●"/>
            </a:pPr>
            <a:r>
              <a:rPr lang="en" sz="2343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Add Rust Extension to VS Code</a:t>
            </a:r>
            <a:endParaRPr sz="2343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14"/>
          <p:cNvSpPr/>
          <p:nvPr/>
        </p:nvSpPr>
        <p:spPr>
          <a:xfrm>
            <a:off x="103225" y="103350"/>
            <a:ext cx="4859400" cy="4936800"/>
          </a:xfrm>
          <a:prstGeom prst="roundRect">
            <a:avLst>
              <a:gd fmla="val 1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fn main() 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let mut input = String::new();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println!("Welcome to the calculator program!\n");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</a:t>
            </a: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l</a:t>
            </a: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oop 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println!("Select from the operations below (enter the number associated):");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println!("Add: 1");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println!("Subtract: 2");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println!("Multiply: 3");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println!("Divide: 4");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println!("Exit: 0\n");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println!("Enter here: 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let _ = io::stdin().read_line(&amp;mut input).expect("Failed to read line");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let selection: i32 = input.trim().parse().expect("invalid input");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input.clear(); //clears out the input for the next loop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if selection ==</a:t>
            </a: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0 </a:t>
            </a: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    break;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</a:t>
            </a: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e</a:t>
            </a: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lse 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    func_select(selection);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    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81" name="Google Shape;1581;p114"/>
          <p:cNvSpPr/>
          <p:nvPr/>
        </p:nvSpPr>
        <p:spPr>
          <a:xfrm>
            <a:off x="5060650" y="103350"/>
            <a:ext cx="3918900" cy="1443900"/>
          </a:xfrm>
          <a:prstGeom prst="roundRect">
            <a:avLst>
              <a:gd fmla="val 540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func_select(selection: i32)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{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if selection == 1 {add();}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else if selection == 2 {subtract();}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else if selection == 3 {multiply();}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else if selection == 4 {divide();}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else {println!("Function {} does not exist. Try again.", selection);}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82" name="Google Shape;1582;p114"/>
          <p:cNvSpPr/>
          <p:nvPr/>
        </p:nvSpPr>
        <p:spPr>
          <a:xfrm>
            <a:off x="5060650" y="1651118"/>
            <a:ext cx="3918900" cy="767400"/>
          </a:xfrm>
          <a:prstGeom prst="roundRect">
            <a:avLst>
              <a:gd fmla="val 64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fn add() 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let (num1, num2) = enter_num();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println!("\n{}+{}={}\n", num1, num2, num1 + num2);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83" name="Google Shape;1583;p114"/>
          <p:cNvSpPr/>
          <p:nvPr/>
        </p:nvSpPr>
        <p:spPr>
          <a:xfrm>
            <a:off x="5060650" y="2522400"/>
            <a:ext cx="3918900" cy="767400"/>
          </a:xfrm>
          <a:prstGeom prst="roundRect">
            <a:avLst>
              <a:gd fmla="val 64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fn subtract() 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let (num1, num2) = enter_num();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println!("\n{}-{}={}\n", num1, num2, num1 - num2);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84" name="Google Shape;1584;p114"/>
          <p:cNvSpPr/>
          <p:nvPr/>
        </p:nvSpPr>
        <p:spPr>
          <a:xfrm>
            <a:off x="5060650" y="3397566"/>
            <a:ext cx="3918900" cy="767400"/>
          </a:xfrm>
          <a:prstGeom prst="roundRect">
            <a:avLst>
              <a:gd fmla="val 6433" name="adj"/>
            </a:avLst>
          </a:prstGeom>
          <a:solidFill>
            <a:srgbClr val="F1E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fn multiply() {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let (num1, num2) = enter_num();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    println!("\n{}*{}={}\n", num1, num2, num1 * num2);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85" name="Google Shape;1585;p114"/>
          <p:cNvSpPr/>
          <p:nvPr/>
        </p:nvSpPr>
        <p:spPr>
          <a:xfrm>
            <a:off x="5060650" y="4272750"/>
            <a:ext cx="3918900" cy="767400"/>
          </a:xfrm>
          <a:prstGeom prst="roundRect">
            <a:avLst>
              <a:gd fmla="val 6433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divide() {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(num1, num2) = enter_num();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println!("\n{}/{}={}\n", num1, num2, num1 / num2);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86" name="Google Shape;1586;p114"/>
          <p:cNvSpPr/>
          <p:nvPr/>
        </p:nvSpPr>
        <p:spPr>
          <a:xfrm>
            <a:off x="1908725" y="265200"/>
            <a:ext cx="3182475" cy="3978100"/>
          </a:xfrm>
          <a:custGeom>
            <a:rect b="b" l="l" r="r" t="t"/>
            <a:pathLst>
              <a:path extrusionOk="0" h="159124" w="127299">
                <a:moveTo>
                  <a:pt x="0" y="159124"/>
                </a:moveTo>
                <a:cubicBezTo>
                  <a:pt x="15838" y="155314"/>
                  <a:pt x="76947" y="159348"/>
                  <a:pt x="95026" y="136264"/>
                </a:cubicBezTo>
                <a:cubicBezTo>
                  <a:pt x="113105" y="113180"/>
                  <a:pt x="103094" y="43330"/>
                  <a:pt x="108473" y="20619"/>
                </a:cubicBezTo>
                <a:cubicBezTo>
                  <a:pt x="113852" y="-2092"/>
                  <a:pt x="124161" y="3437"/>
                  <a:pt x="127299" y="0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7" name="Google Shape;1587;p114"/>
          <p:cNvSpPr/>
          <p:nvPr/>
        </p:nvSpPr>
        <p:spPr>
          <a:xfrm>
            <a:off x="6559175" y="476031"/>
            <a:ext cx="2529000" cy="1655100"/>
          </a:xfrm>
          <a:custGeom>
            <a:rect b="b" l="l" r="r" t="t"/>
            <a:pathLst>
              <a:path extrusionOk="0" h="66204" w="101160">
                <a:moveTo>
                  <a:pt x="0" y="4566"/>
                </a:moveTo>
                <a:cubicBezTo>
                  <a:pt x="15614" y="4566"/>
                  <a:pt x="77777" y="-5707"/>
                  <a:pt x="93681" y="4566"/>
                </a:cubicBezTo>
                <a:cubicBezTo>
                  <a:pt x="109585" y="14839"/>
                  <a:pt x="95135" y="55931"/>
                  <a:pt x="95426" y="66204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8" name="Google Shape;1588;p114"/>
          <p:cNvSpPr/>
          <p:nvPr/>
        </p:nvSpPr>
        <p:spPr>
          <a:xfrm>
            <a:off x="7052225" y="584360"/>
            <a:ext cx="1956200" cy="1992200"/>
          </a:xfrm>
          <a:custGeom>
            <a:rect b="b" l="l" r="r" t="t"/>
            <a:pathLst>
              <a:path extrusionOk="0" h="79688" w="78248">
                <a:moveTo>
                  <a:pt x="0" y="6508"/>
                </a:moveTo>
                <a:cubicBezTo>
                  <a:pt x="12435" y="6279"/>
                  <a:pt x="63497" y="-7065"/>
                  <a:pt x="74607" y="5132"/>
                </a:cubicBezTo>
                <a:cubicBezTo>
                  <a:pt x="85717" y="17329"/>
                  <a:pt x="67983" y="67262"/>
                  <a:pt x="66658" y="79688"/>
                </a:cubicBezTo>
              </a:path>
            </a:pathLst>
          </a:cu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9" name="Google Shape;1589;p114"/>
          <p:cNvSpPr/>
          <p:nvPr/>
        </p:nvSpPr>
        <p:spPr>
          <a:xfrm>
            <a:off x="7018625" y="661507"/>
            <a:ext cx="1904750" cy="2977175"/>
          </a:xfrm>
          <a:custGeom>
            <a:rect b="b" l="l" r="r" t="t"/>
            <a:pathLst>
              <a:path extrusionOk="0" h="119087" w="76190">
                <a:moveTo>
                  <a:pt x="0" y="10146"/>
                </a:moveTo>
                <a:cubicBezTo>
                  <a:pt x="12476" y="9710"/>
                  <a:pt x="66856" y="-10629"/>
                  <a:pt x="74855" y="7528"/>
                </a:cubicBezTo>
                <a:cubicBezTo>
                  <a:pt x="82854" y="25685"/>
                  <a:pt x="52470" y="100494"/>
                  <a:pt x="47993" y="119087"/>
                </a:cubicBezTo>
              </a:path>
            </a:pathLst>
          </a:custGeom>
          <a:noFill/>
          <a:ln cap="flat" cmpd="sng" w="38100">
            <a:solidFill>
              <a:srgbClr val="F1E7D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0" name="Google Shape;1590;p114"/>
          <p:cNvSpPr/>
          <p:nvPr/>
        </p:nvSpPr>
        <p:spPr>
          <a:xfrm>
            <a:off x="6928975" y="769402"/>
            <a:ext cx="1890100" cy="3698000"/>
          </a:xfrm>
          <a:custGeom>
            <a:rect b="b" l="l" r="r" t="t"/>
            <a:pathLst>
              <a:path extrusionOk="0" h="147920" w="75604">
                <a:moveTo>
                  <a:pt x="0" y="12105"/>
                </a:moveTo>
                <a:cubicBezTo>
                  <a:pt x="12525" y="11674"/>
                  <a:pt x="69923" y="-13119"/>
                  <a:pt x="75152" y="9517"/>
                </a:cubicBezTo>
                <a:cubicBezTo>
                  <a:pt x="80381" y="32153"/>
                  <a:pt x="38672" y="124853"/>
                  <a:pt x="31376" y="147920"/>
                </a:cubicBez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1" name="Google Shape;1591;p114"/>
          <p:cNvSpPr/>
          <p:nvPr/>
        </p:nvSpPr>
        <p:spPr>
          <a:xfrm>
            <a:off x="295375" y="1173450"/>
            <a:ext cx="3918900" cy="1398300"/>
          </a:xfrm>
          <a:prstGeom prst="roundRect">
            <a:avLst>
              <a:gd fmla="val 5402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read_num(prompt: &amp;str) -&gt; f64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{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mut input = String::new(); //input is always a string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println!("{}", prompt);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io::stdin().read_line(&amp;mut input).expect("Failed to read line");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input.trim().parse().expect("invalid input")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92" name="Google Shape;1592;p114"/>
          <p:cNvSpPr/>
          <p:nvPr/>
        </p:nvSpPr>
        <p:spPr>
          <a:xfrm>
            <a:off x="295375" y="2766675"/>
            <a:ext cx="3918900" cy="994200"/>
          </a:xfrm>
          <a:prstGeom prst="roundRect">
            <a:avLst>
              <a:gd fmla="val 5402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enter_num() -&gt; (f64, f64)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{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(read_num("Enter number 1:"), read_num("Enter number 2:"))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0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15"/>
          <p:cNvSpPr/>
          <p:nvPr/>
        </p:nvSpPr>
        <p:spPr>
          <a:xfrm>
            <a:off x="125400" y="134325"/>
            <a:ext cx="6266400" cy="2556000"/>
          </a:xfrm>
          <a:prstGeom prst="roundRect">
            <a:avLst>
              <a:gd fmla="val 540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main() {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arr1 = vec![vec![1, 1, 1], vec![0, 0, 0], vec![1, 1, 1]];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arr2 = vec![vec![1, 1, 1, 1], vec![1, 1, 1, 1], vec![0, 0, 0, 0], vec![0, 0, 0, 0]];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let arr3 = vec![vec![0, 0], vec![0, 0]];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find_zrow(3, &amp;arr1);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find_zrow(4, &amp;arr2);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find_zrow(2, &amp;arr3);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598" name="Google Shape;1598;p115"/>
          <p:cNvSpPr/>
          <p:nvPr/>
        </p:nvSpPr>
        <p:spPr>
          <a:xfrm>
            <a:off x="4147500" y="1449900"/>
            <a:ext cx="4859400" cy="3588000"/>
          </a:xfrm>
          <a:prstGeom prst="roundRect">
            <a:avLst>
              <a:gd fmla="val 502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fn find_zrow(n: i32, x: &amp;Vec&lt;Vec&lt;i32&gt;&gt;) {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for i in 0..n </a:t>
            </a: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{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for j in 0..n {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if x[i as usize][j as usize] != 0 {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    break;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}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if j == (n-1) {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    println!("The first non-zero row is {}", (i + 1));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    return;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    }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    }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   }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}</a:t>
            </a:r>
            <a:endParaRPr b="1" sz="165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descr="A texture with blue, red, and orange layers. " id="1599" name="Google Shape;1599;p115"/>
          <p:cNvPicPr preferRelativeResize="0"/>
          <p:nvPr/>
        </p:nvPicPr>
        <p:blipFill rotWithShape="1">
          <a:blip r:embed="rId3">
            <a:alphaModFix/>
          </a:blip>
          <a:srcRect b="0" l="40733" r="2416" t="0"/>
          <a:stretch/>
        </p:blipFill>
        <p:spPr>
          <a:xfrm>
            <a:off x="2423700" y="1988675"/>
            <a:ext cx="2148900" cy="2157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116"/>
          <p:cNvSpPr txBox="1"/>
          <p:nvPr>
            <p:ph type="title"/>
          </p:nvPr>
        </p:nvSpPr>
        <p:spPr>
          <a:xfrm>
            <a:off x="228600" y="3934425"/>
            <a:ext cx="17769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05" name="Google Shape;1605;p116"/>
          <p:cNvSpPr/>
          <p:nvPr/>
        </p:nvSpPr>
        <p:spPr>
          <a:xfrm>
            <a:off x="4436303" y="3273931"/>
            <a:ext cx="1393500" cy="1393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61550" lIns="161550" spcFirstLastPara="1" rIns="161550" wrap="square" tIns="16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7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6" name="Google Shape;1606;p116"/>
          <p:cNvSpPr/>
          <p:nvPr/>
        </p:nvSpPr>
        <p:spPr>
          <a:xfrm rot="5400000">
            <a:off x="5761306" y="457490"/>
            <a:ext cx="1663800" cy="1663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203775" lIns="203775" spcFirstLastPara="1" rIns="203775" wrap="square" tIns="203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2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7" name="Google Shape;1607;p116"/>
          <p:cNvSpPr/>
          <p:nvPr/>
        </p:nvSpPr>
        <p:spPr>
          <a:xfrm rot="10800000">
            <a:off x="5174105" y="2130778"/>
            <a:ext cx="3218400" cy="2119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203775" lIns="203775" spcFirstLastPara="1" rIns="203775" wrap="square" tIns="203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2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8" name="Google Shape;1608;p116"/>
          <p:cNvSpPr/>
          <p:nvPr/>
        </p:nvSpPr>
        <p:spPr>
          <a:xfrm rot="5400000">
            <a:off x="7425128" y="497861"/>
            <a:ext cx="1624800" cy="162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203775" lIns="203775" spcFirstLastPara="1" rIns="203775" wrap="square" tIns="203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2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9" name="Google Shape;1609;p116"/>
          <p:cNvSpPr txBox="1"/>
          <p:nvPr>
            <p:ph type="title"/>
          </p:nvPr>
        </p:nvSpPr>
        <p:spPr>
          <a:xfrm>
            <a:off x="228600" y="72244"/>
            <a:ext cx="86868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CONCLUSIO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0" name="Google Shape;1610;p116"/>
          <p:cNvSpPr txBox="1"/>
          <p:nvPr>
            <p:ph type="title"/>
          </p:nvPr>
        </p:nvSpPr>
        <p:spPr>
          <a:xfrm>
            <a:off x="228600" y="216725"/>
            <a:ext cx="58521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CONCLUSI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1" name="Google Shape;1611;p116"/>
          <p:cNvSpPr txBox="1"/>
          <p:nvPr>
            <p:ph type="title"/>
          </p:nvPr>
        </p:nvSpPr>
        <p:spPr>
          <a:xfrm>
            <a:off x="228600" y="433450"/>
            <a:ext cx="55131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CONCLUS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2" name="Google Shape;1612;p116"/>
          <p:cNvSpPr txBox="1"/>
          <p:nvPr>
            <p:ph type="title"/>
          </p:nvPr>
        </p:nvSpPr>
        <p:spPr>
          <a:xfrm>
            <a:off x="228600" y="0"/>
            <a:ext cx="65742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accent4"/>
                </a:solidFill>
              </a:rPr>
              <a:t>CONCLUSION</a:t>
            </a:r>
            <a:endParaRPr sz="8000">
              <a:solidFill>
                <a:schemeClr val="accent4"/>
              </a:solidFill>
            </a:endParaRPr>
          </a:p>
        </p:txBody>
      </p:sp>
      <p:sp>
        <p:nvSpPr>
          <p:cNvPr id="1613" name="Google Shape;1613;p116"/>
          <p:cNvSpPr txBox="1"/>
          <p:nvPr>
            <p:ph type="title"/>
          </p:nvPr>
        </p:nvSpPr>
        <p:spPr>
          <a:xfrm>
            <a:off x="228600" y="722175"/>
            <a:ext cx="49455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CONCLU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4" name="Google Shape;1614;p116"/>
          <p:cNvSpPr txBox="1"/>
          <p:nvPr>
            <p:ph type="title"/>
          </p:nvPr>
        </p:nvSpPr>
        <p:spPr>
          <a:xfrm>
            <a:off x="228600" y="1083400"/>
            <a:ext cx="48630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CONCLU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5" name="Google Shape;1615;p116"/>
          <p:cNvSpPr txBox="1"/>
          <p:nvPr>
            <p:ph type="title"/>
          </p:nvPr>
        </p:nvSpPr>
        <p:spPr>
          <a:xfrm>
            <a:off x="228600" y="1444625"/>
            <a:ext cx="40167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CONCL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6" name="Google Shape;1616;p116"/>
          <p:cNvSpPr txBox="1"/>
          <p:nvPr>
            <p:ph type="title"/>
          </p:nvPr>
        </p:nvSpPr>
        <p:spPr>
          <a:xfrm>
            <a:off x="228600" y="1950325"/>
            <a:ext cx="32943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CONC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7" name="Google Shape;1617;p116"/>
          <p:cNvSpPr txBox="1"/>
          <p:nvPr>
            <p:ph type="title"/>
          </p:nvPr>
        </p:nvSpPr>
        <p:spPr>
          <a:xfrm>
            <a:off x="228600" y="2528875"/>
            <a:ext cx="23241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CON</a:t>
            </a:r>
            <a:endParaRPr sz="8000">
              <a:solidFill>
                <a:schemeClr val="lt2"/>
              </a:solidFill>
            </a:endParaRPr>
          </a:p>
        </p:txBody>
      </p:sp>
      <p:sp>
        <p:nvSpPr>
          <p:cNvPr id="1618" name="Google Shape;1618;p116"/>
          <p:cNvSpPr txBox="1"/>
          <p:nvPr>
            <p:ph type="title"/>
          </p:nvPr>
        </p:nvSpPr>
        <p:spPr>
          <a:xfrm>
            <a:off x="228600" y="3148000"/>
            <a:ext cx="21012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lt2"/>
                </a:solidFill>
              </a:rPr>
              <a:t>CO</a:t>
            </a:r>
            <a:endParaRPr sz="8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1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CEA8BC"/>
      </a:dk2>
      <a:lt2>
        <a:srgbClr val="A9C3C8"/>
      </a:lt2>
      <a:accent1>
        <a:srgbClr val="B1403A"/>
      </a:accent1>
      <a:accent2>
        <a:srgbClr val="F2CDA2"/>
      </a:accent2>
      <a:accent3>
        <a:srgbClr val="C0343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